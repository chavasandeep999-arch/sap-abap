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notesSlides/notesSlide4.xml" ContentType="application/vnd.openxmlformats-officedocument.presentationml.notesSlide+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notesSlides/notesSlide5.xml" ContentType="application/vnd.openxmlformats-officedocument.presentationml.notesSlide+xml"/>
  <Override PartName="/ppt/ink/ink11.xml" ContentType="application/inkml+xml"/>
  <Override PartName="/ppt/ink/ink12.xml" ContentType="application/inkml+xml"/>
  <Override PartName="/ppt/ink/ink13.xml" ContentType="application/inkml+xml"/>
  <Override PartName="/ppt/notesSlides/notesSlide6.xml" ContentType="application/vnd.openxmlformats-officedocument.presentationml.notesSlide+xml"/>
  <Override PartName="/ppt/ink/ink14.xml" ContentType="application/inkml+xml"/>
  <Override PartName="/ppt/ink/ink15.xml" ContentType="application/inkml+xml"/>
  <Override PartName="/ppt/notesSlides/notesSlide7.xml" ContentType="application/vnd.openxmlformats-officedocument.presentationml.notesSlide+xml"/>
  <Override PartName="/ppt/ink/ink16.xml" ContentType="application/inkml+xml"/>
  <Override PartName="/ppt/ink/ink17.xml" ContentType="application/inkml+xml"/>
  <Override PartName="/ppt/notesSlides/notesSlide8.xml" ContentType="application/vnd.openxmlformats-officedocument.presentationml.notesSlide+xml"/>
  <Override PartName="/ppt/ink/ink18.xml" ContentType="application/inkml+xml"/>
  <Override PartName="/ppt/notesSlides/notesSlide9.xml" ContentType="application/vnd.openxmlformats-officedocument.presentationml.notesSlide+xml"/>
  <Override PartName="/ppt/ink/ink19.xml" ContentType="application/inkml+xml"/>
  <Override PartName="/ppt/notesSlides/notesSlide10.xml" ContentType="application/vnd.openxmlformats-officedocument.presentationml.notesSlide+xml"/>
  <Override PartName="/ppt/ink/ink20.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embeddedFontLst>
    <p:embeddedFont>
      <p:font typeface="Inter" panose="02000503000000020004" pitchFamily="2" charset="0"/>
      <p:regular r:id="rId13"/>
    </p:embeddedFont>
    <p:embeddedFont>
      <p:font typeface="Inter Light" panose="02000503000000020004" pitchFamily="2" charset="0"/>
      <p:regular r:id="rId14"/>
    </p:embeddedFont>
    <p:embeddedFont>
      <p:font typeface="Manrope" pitchFamily="2" charset="0"/>
      <p:regular r:id="rId15"/>
    </p:embeddedFont>
    <p:embeddedFont>
      <p:font typeface="Manrope Bold" pitchFamily="2" charset="0"/>
      <p:regular r:id="rId16"/>
      <p:bold r:id="rId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63" d="100"/>
          <a:sy n="163" d="100"/>
        </p:scale>
        <p:origin x="184" y="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1T22:32:31.853"/>
    </inkml:context>
    <inkml:brush xml:id="br0">
      <inkml:brushProperty name="width" value="0.35" units="cm"/>
      <inkml:brushProperty name="height" value="0.35" units="cm"/>
      <inkml:brushProperty name="color" value="#FFFFFF"/>
    </inkml:brush>
  </inkml:definitions>
  <inkml:trace contextRef="#ctx0" brushRef="#br0">492 173 24575,'84'0'0,"-20"0"0,26 0 0,-44 0 0,-19 0 0,-31 3 0,-41 8 0,-40 9 0,24-6 0,-4 2 0,-8 1 0,0-1 0,5 0 0,3-2 0,10-1 0,4-1 0,-15 2 0,41-7 0,46-6 0,71-14 0,-20 3 0,8-1 0,-15 2 0,3 0 0,0-1 0,2 1 0,0-1 0,-3 2 0,16-2 0,-6 2 0,-17 3 0,-7 0 0,8 0 0,-35 2 0,-16-2 0,-49-11 0,-29-1 0,4 3 0,-9 0 0,-7 3 0,-3 2 0,-6 2 0,0 1 0,4 3 0,2 1 0,11 1 0,5 2 0,-29-1 0,35 0 0,32 0 0,15-1 0,5 0 0,1-4 0,38-9 0,25 0 0,-6 3 0,6 2 0,6 0 0,2 2 0,2 0 0,-1 0 0,-2 2 0,-2-1 0,-5 1 0,-1 1 0,35-3 0,-16 4 0,-16 1 0,-11 2 0,-6 0 0,-6 0 0,-5 0 0,-8 0 0,-6 0 0,-6 0 0,-1 0 0,1 0 0,12 0 0,14 0 0,10 4 0,0 2 0,-12 2 0,-12 0 0,-7-3 0,5 0 0,6 3 0,7 2 0,3 2 0,-7-1 0,-4-1 0,-2-1 0,2 1 0,7 0 0,4 0 0,-1-2 0,-2-3 0,-3-1 0,-2-1 0,0 0 0,2-1 0,1-1 0,1-1 0,1 0 0,-1 0 0,1 0 0,-1 0 0,1 0 0,2 0 0,1 0 0,-1 0 0,1 0 0,0 0 0,0 0 0,-1 0 0,-1 0 0,-5 0 0,-5 0 0,-6 0 0,-6 0 0,2 0 0,5 0 0,9 0 0,3 0 0,2 2 0,-6 0 0,-7 0 0,-3 1 0,-5-1 0,0 0 0,1 3 0,6 0 0,6 2 0,3 1 0,-2-2 0,-6-2 0,-5-2 0,-4-2 0,-1 0 0,4 0 0,7 0 0,13 0 0,12 0 0,3 0 0,-8 0 0,-11 0 0,-13-2 0,-8-3 0,-4-7 0,-4-5 0,-3-3 0,-2 2 0,-1 5 0,1 6 0,-5 4 0,-4 0 0,-9-1 0,-7-2 0,-1 0 0,0 0 0,5 1 0,9 4 0,1 0 0,-3 1 0,-7 0 0,-12 0 0,-5 0 0,1 0 0,1 0 0,4 0 0,4 0 0,1 0 0,1 0 0,-1 0 0,-6 0 0,0 0 0,3 0 0,8 0 0,9 0 0,5 0 0,-2-1 0,-8-1 0,-7-3 0,-6-3 0,1 0 0,3-1 0,3 2 0,2 1 0,-2 4 0,1 1 0,-1 1 0,-2 0 0,-2 0 0,-5 0 0,0 0 0,3 2 0,4 2 0,9 2 0,6 1 0,8-2 0,4-1 0,-6 12 0,-8 10 0,-10 20 0,-4 4 0,6-4 0,8-12 0,9-13 0,5-9 0,4-4 0,1 0 0,4 0 0,3 0 0,4 0 0,3-4 0,5-2 0,0-1 0,-1-1 0,-4 0 0,-7-1 0,-1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1T22:35:28.634"/>
    </inkml:context>
    <inkml:brush xml:id="br0">
      <inkml:brushProperty name="width" value="0.35" units="cm"/>
      <inkml:brushProperty name="height" value="0.35" units="cm"/>
      <inkml:brushProperty name="color" value="#FFFFFF"/>
    </inkml:brush>
  </inkml:definitions>
  <inkml:trace contextRef="#ctx0" brushRef="#br0">2360 215 24575,'-61'0'0,"-1"0"0,9-1 0,2-1 0,5 0 0,6-3 0,2 1 0,3-1 0,3-1 0,4 0 0,4 0 0,1 0 0,1 1 0,3 2 0,3 0 0,3 2 0,0-1 0,-10-2 0,-17-3 0,-18-1 0,-9 1 0,0 2 0,8 0 0,6-1 0,3 0 0,1-2 0,5 2 0,5 0 0,7 2 0,3 0 0,-3-2 0,-4-2 0,-9-1 0,-5-2 0,0 2 0,1 0 0,5 2 0,5 0 0,5 2 0,10 1 0,8 1 0,5 1 0,-1 1 0,-6 1 0,-4 0 0,-3 0 0,4 0 0,8 0 0,3 0 0,3 0 0,-4 0 0,-5 1 0,-2 3 0,3 1 0,2 1 0,-2 1 0,-3 2 0,-7 2 0,-5 2 0,-3-1 0,2-2 0,5-3 0,10-4 0,7-2 0,-2 0 0,-6 1 0,-12 2 0,-8 2 0,-1 0 0,8-2 0,11-2 0,10 0 0,3-1 0,-11 4 0,0-1 0,-8 2 0,8-1 0,7-2 0,5 1 0,0 6 0,-1 2 0,-1 5 0,1-3 0,3-2 0,2-3 0,0 1 0,1-2 0,-1 3 0,1-1 0,0 3 0,0-3 0,0-1 0,-4 1 0,1 1 0,-4 3 0,2 0 0,2-2 0,3 0 0,3 1 0,3 0 0,2-1 0,2-4 0,-1-3 0,0-1 0,2-1 0,-2 0 0,2-1 0,0 0 0,2-1 0,2 2 0,0 0 0,0-1 0,-4-1 0,-2 0 0,0-1 0,1 0 0,5 0 0,5 0 0,4 0 0,1 0 0,-2 0 0,-5 0 0,-3 0 0,2 0 0,2 0 0,2 0 0,-2 0 0,-4 0 0,-2 0 0,5 0 0,7 0 0,9 0 0,3 0 0,-4-1 0,-7-1 0,-11 0 0,-4 0 0,-2 0 0,4-1 0,9-2 0,9 0 0,8-1 0,4 0 0,-3 2 0,-5-1 0,-5 1 0,-4 2 0,5-2 0,1 1 0,-2 0 0,-5 1 0,-7 2 0,0-2 0,7-2 0,10-1 0,6-2 0,2 3 0,0 1 0,-2 2 0,2 1 0,-3-1 0,-5-2 0,-9 1 0,-8 1 0,-8-1 0,-3 1 0,4-3 0,7 3 0,17-4 0,7 3 0,1-3 0,-8 2 0,-12 0 0,-10 2 0,-3 1 0,11 0 0,13 0 0,13 0 0,-3 0 0,-8 0 0,-10 0 0,-10 0 0,-1 0 0,-3 0 0,7 0 0,11 0 0,6 0 0,-1 0 0,-9 0 0,-8 0 0,-6 0 0,0 0 0,0 0 0,2 0 0,-1 0 0,-3 0 0,-1 0 0,3 0 0,4 0 0,2 0 0,-1 0 0,-5-1 0,-6-1 0,-4-1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1T22:35:32.818"/>
    </inkml:context>
    <inkml:brush xml:id="br0">
      <inkml:brushProperty name="width" value="0.35" units="cm"/>
      <inkml:brushProperty name="height" value="0.35" units="cm"/>
      <inkml:brushProperty name="color" value="#FFFFFF"/>
    </inkml:brush>
  </inkml:definitions>
  <inkml:trace contextRef="#ctx0" brushRef="#br0">1 0 24575,'0'0'0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1T22:35:34.585"/>
    </inkml:context>
    <inkml:brush xml:id="br0">
      <inkml:brushProperty name="width" value="0.35" units="cm"/>
      <inkml:brushProperty name="height" value="0.35" units="cm"/>
      <inkml:brushProperty name="color" value="#FFFFFF"/>
    </inkml:brush>
  </inkml:definitions>
  <inkml:trace contextRef="#ctx0" brushRef="#br0">1 1 24575,'0'0'0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1T22:35:37.868"/>
    </inkml:context>
    <inkml:brush xml:id="br0">
      <inkml:brushProperty name="width" value="0.35" units="cm"/>
      <inkml:brushProperty name="height" value="0.35" units="cm"/>
      <inkml:brushProperty name="color" value="#FFFFFF"/>
    </inkml:brush>
  </inkml:definitions>
  <inkml:trace contextRef="#ctx0" brushRef="#br0">1 1 24575,'0'0'0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1T22:35:39.984"/>
    </inkml:context>
    <inkml:brush xml:id="br0">
      <inkml:brushProperty name="width" value="0.35" units="cm"/>
      <inkml:brushProperty name="height" value="0.35" units="cm"/>
      <inkml:brushProperty name="color" value="#FFFFFF"/>
    </inkml:brush>
  </inkml:definitions>
  <inkml:trace contextRef="#ctx0" brushRef="#br0">1 1 24575,'0'0'0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1T22:35:41.251"/>
    </inkml:context>
    <inkml:brush xml:id="br0">
      <inkml:brushProperty name="width" value="0.35" units="cm"/>
      <inkml:brushProperty name="height" value="0.35" units="cm"/>
      <inkml:brushProperty name="color" value="#FFFFFF"/>
    </inkml:brush>
  </inkml:definitions>
  <inkml:trace contextRef="#ctx0" brushRef="#br0">0 0 24575,'0'0'0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1T22:35:43.734"/>
    </inkml:context>
    <inkml:brush xml:id="br0">
      <inkml:brushProperty name="width" value="0.35" units="cm"/>
      <inkml:brushProperty name="height" value="0.35" units="cm"/>
      <inkml:brushProperty name="color" value="#FFFFFF"/>
    </inkml:brush>
  </inkml:definitions>
  <inkml:trace contextRef="#ctx0" brushRef="#br0">0 1 24575,'0'0'0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1T22:35:50.834"/>
    </inkml:context>
    <inkml:brush xml:id="br0">
      <inkml:brushProperty name="width" value="0.35" units="cm"/>
      <inkml:brushProperty name="height" value="0.35" units="cm"/>
      <inkml:brushProperty name="color" value="#FFFFFF"/>
    </inkml:brush>
  </inkml:definitions>
  <inkml:trace contextRef="#ctx0" brushRef="#br0">0 0 24575,'0'0'0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1T22:35:52.934"/>
    </inkml:context>
    <inkml:brush xml:id="br0">
      <inkml:brushProperty name="width" value="0.35" units="cm"/>
      <inkml:brushProperty name="height" value="0.35" units="cm"/>
      <inkml:brushProperty name="color" value="#FFFFFF"/>
    </inkml:brush>
  </inkml:definitions>
  <inkml:trace contextRef="#ctx0" brushRef="#br0">0 1 24575,'0'0'0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1T22:36:05.817"/>
    </inkml:context>
    <inkml:brush xml:id="br0">
      <inkml:brushProperty name="width" value="0.35" units="cm"/>
      <inkml:brushProperty name="height" value="0.35" units="cm"/>
      <inkml:brushProperty name="color" value="#FFFFFF"/>
    </inkml:brush>
  </inkml:definitions>
  <inkml:trace contextRef="#ctx0" brushRef="#br0">1 432 24575,'54'0'0,"9"0"0,7 0 0,-1 0 0,-13 0 0,-10 0 0,-6-2 0,6-2 0,11-6 0,12-3 0,8-1 0,7-3 0,9 0 0,-44 7 0,1-1 0,5 0 0,0-2 0,0 0 0,1 0 0,-1-1 0,0-1 0,-3 1 0,0-1 0,41-15 0,-8 3 0,-11 2 0,-13 4 0,-10 5 0,-12 3 0,-12 5 0,-6 4 0,-2 0 0,4 0 0,9-2 0,10-1 0,7 0 0,5-2 0,3 2 0,-1-1 0,-5 3 0,-8 2 0,-12 1 0,-12 2 0,-6 0 0,-1 0 0,7 0 0,7 0 0,2 0 0,-3 0 0,-7 0 0,-6 0 0,0 3 0,5 4 0,4 2 0,2 2 0,-6-1 0,-7-3 0,-5 0 0,-8 4 0,-21-2 0,-42 5 0,15-9 0,-5-1 0,-14-1 0,-3 0 0,-3-1 0,0 0 0,5-2 0,2 0 0,5 0 0,2 0 0,7 0 0,1 0 0,1 0 0,2 0 0,-46 0 0,4 0 0,11-2 0,13-5 0,10-2 0,7-1 0,2-1 0,4 4 0,3 0 0,1 1 0,-2-1 0,-7 1 0,-3 0 0,-4 1 0,-2-1 0,2 0 0,1 0 0,3 1 0,4 1 0,6 1 0,5 1 0,6 0 0,3 0 0,1 1 0,1 0 0,0-2 0,1 1 0,4 1 0,5 1 0,6 0 0,4 0 0,-2 0 0,-2 0 0,-1 0 0,2 0 0,4 4 0,7 7 0,3 1 0,6 7 0,1-2 0,1 2 0,0 2 0,-2-1 0,0 0 0,0-3 0,-1-1 0,0-1 0,2-2 0,1 2 0,1 0 0,0 0 0,-1-2 0,-2-3 0,0-1 0,2 1 0,1 0 0,0 2 0,1 0 0,0-2 0,-1-2 0,1-3 0,-2-3 0,0 1 0,-1 0 0,3 1 0,2 0 0,1 1 0,2-1 0,-2-2 0,-1 0 0,-2-1 0,4-1 0,8 0 0,8 0 0,5 0 0,-3 0 0,-9 0 0,-6 0 0,-1-1 0,6-3 0,10-3 0,5-4 0,1 0 0,-5 1 0,-8 2 0,-8 2 0,-3 1 0,-2 1 0,0 0 0,0-2 0,0 1 0,3-2 0,5 0 0,5 0 0,4-2 0,5 0 0,6 0 0,4-2 0,-4 1 0,-9 1 0,-14 2 0,-11 0 0,-5-1 0,-2-2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1T22:36:11.784"/>
    </inkml:context>
    <inkml:brush xml:id="br0">
      <inkml:brushProperty name="width" value="0.35" units="cm"/>
      <inkml:brushProperty name="height" value="0.35" units="cm"/>
      <inkml:brushProperty name="color" value="#FFFFFF"/>
    </inkml:brush>
  </inkml:definitions>
  <inkml:trace contextRef="#ctx0" brushRef="#br0">1 302 24575,'67'0'0,"0"0"0,-12 0 0,-2 0 0,-8 0 0,-7-1 0,-4 0 0,-5-3 0,0-1 0,0-1 0,1 2 0,1 0 0,1 0 0,2 0 0,0-1 0,-2 1 0,-7 0 0,-7 0 0,1 1 0,4-2 0,8 0 0,3 0 0,1-1 0,-3 1 0,-3 0 0,-1-1 0,2 1 0,3-2 0,0 1 0,2 0 0,0 0 0,1-1 0,4 0 0,1-1 0,0 1 0,-3 0 0,-1 1 0,1-1 0,2-1 0,0 0 0,-2 0 0,-6 0 0,-5 3 0,-1-1 0,3 0 0,4-1 0,2-1 0,3 1 0,-3 1 0,4 0 0,4-1 0,1 0 0,-3 1 0,-5 1 0,-9 2 0,-2 0 0,3 2 0,7-2 0,8 1 0,7-1 0,4 1 0,3 2 0,0-2 0,-3 0 0,-8 0 0,-8 0 0,-11 2 0,-6 0 0,-5 0 0,-6 1 0,-4 1 0,-3 12 0,-3-1 0,1 9 0,-1-8 0,0-2 0,0-4 0,0 5 0,0-3 0,0 7 0,1-2 0,1 0 0,-1-1 0,1-2 0,-2-1 0,0-3 0,-20 2 0,-4-2 0,-20 3 0,0-2 0,0 2 0,-3 3 0,-4 2 0,-3 2 0,1-3 0,7-3 0,8-4 0,7-4 0,4-3 0,2 1 0,-1 0 0,0 0 0,-6 0 0,-5-2 0,-1 0 0,-1 0 0,7 0 0,0 0 0,0 2 0,-3 0 0,-3 0 0,1-1 0,2-1 0,1 2 0,-2 1 0,2 2 0,4-1 0,2 1 0,-3 1 0,-2 1 0,-3 0 0,6-1 0,5-1 0,1 0 0,-3 2 0,-3-1 0,-1 1 0,-4 1 0,1-1 0,1-1 0,6 0 0,10-3 0,10-1 0,37-2 0,4-3 0,37-1 0,5-1 0,15 2 0,1-1 0,-10 2 0,-18-1 0,-14-1 0,-8 2 0,-6-1 0,-3 0 0,-1 1 0,-1-1 0,1 2 0,0 0 0,-2 1 0,-3 0 0,-4 0 0,-1 0 0,3 0 0,6 0 0,1 0 0,-2-1 0,-7 0 0,-8-2 0,-6 0 0,-4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1T22:36:12.784"/>
    </inkml:context>
    <inkml:brush xml:id="br0">
      <inkml:brushProperty name="width" value="0.35" units="cm"/>
      <inkml:brushProperty name="height" value="0.35" units="cm"/>
      <inkml:brushProperty name="color" value="#FFFFFF"/>
    </inkml:brush>
  </inkml:definitions>
  <inkml:trace contextRef="#ctx0" brushRef="#br0">1 0 24575,'0'0'0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1T22:36:26.417"/>
    </inkml:context>
    <inkml:brush xml:id="br0">
      <inkml:brushProperty name="width" value="0.35" units="cm"/>
      <inkml:brushProperty name="height" value="0.35" units="cm"/>
      <inkml:brushProperty name="color" value="#FFFFFF"/>
    </inkml:brush>
  </inkml:definitions>
  <inkml:trace contextRef="#ctx0" brushRef="#br0">0 99 24575,'74'0'0,"-1"0"0,-4 0 0,6 0 0,6 0 0,-1 0 0,-6 0 0,-3 2 0,-2 0 0,-3 1 0,1 1 0,-3-1 0,-6-1 0,-2 0 0,-7-2 0,-2 0 0,-3 0 0,-3 0 0,-4 0 0,-2 0 0,-3 0 0,0 0 0,-1 0 0,2 0 0,1 0 0,4 0 0,3 0 0,-2 0 0,1 0 0,-1 0 0,-2 0 0,3 0 0,-2 0 0,-3 0 0,-5 0 0,-3 0 0,-1 0 0,6 0 0,5 0 0,1 0 0,-3 0 0,-7 0 0,-3 0 0,0 0 0,2 0 0,3 0 0,0 0 0,-5 0 0,-5 0 0,-7 0 0,-4 0 0,2 0 0,4 2 0,4 0 0,1 1 0,-3 0 0,-7-1 0,-4 1 0,-4 9 0,-1-5 0,1 7 0,-1-5 0,1 0 0,-2 2 0,0-3 0,0 2 0,0-1 0,0 1 0,-1-1 0,-2 0 0,-2-1 0,-2-2 0,-4-3 0,2-1 0,-3-2 0,4 0 0,-1 0 0,-2-1 0,1-3 0,-3 0 0,1-4 0,0 0 0,-2-2 0,-1 1 0,2 1 0,-3 3 0,-4 0 0,0 1 0,-1-1 0,3 2 0,5 2 0,0 0 0,-2 1 0,-4-1 0,-4-2 0,-2 1 0,2-1 0,4 1 0,2 0 0,1 0 0,1 2 0,-4-1 0,-3-1 0,0 0 0,0-2 0,2 2 0,-2-1 0,-1-3 0,-2 2 0,-2-1 0,-3 0 0,-4 0 0,-6-2 0,-4-2 0,4-4 0,7-3 0,10-4 0,10-5-246,5 2 0,4 7 0,2 7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1T22:36:31.167"/>
    </inkml:context>
    <inkml:brush xml:id="br0">
      <inkml:brushProperty name="width" value="0.35" units="cm"/>
      <inkml:brushProperty name="height" value="0.35" units="cm"/>
      <inkml:brushProperty name="color" value="#FFFFFF"/>
    </inkml:brush>
  </inkml:definitions>
  <inkml:trace contextRef="#ctx0" brushRef="#br0">0 1 24575,'37'0'0,"-8"0"0,-19 1 0,-6 1 0,8 3 0,-4-2 0,10 3 0,-6-4 0,1 1 0,-2-1 0,0 0 0,-1-1 0,2-1 0,0 2 0,1-1 0,-1 1 0,1-1 0,1-1 0,4 0 0,2 0 0,4 0 0,0 0 0,-1 0 0,-2 0 0,-2 0 0,2 0 0,4 0 0,1 0 0,1 0 0,-3 0 0,-2 0 0,0 0 0,0 0 0,0 0 0,1 0 0,-1 0 0,1 0 0,-1 0 0,0 0 0,1 0 0,1 0 0,0 0 0,0 0 0,-1 0 0,-3 0 0,6 0 0,4 0 0,5 0 0,3 0 0,-6 0 0,-1 0 0,0 0 0,1 0 0,-2 0 0,-2 0 0,-4 0 0,-4 0 0,0 0 0,-3 0 0,1 0 0,1 0 0,-1 0 0,2 0 0,-3 0 0,3 0 0,1 0 0,1 0 0,1 0 0,-2-1 0,1-1 0,-1 0 0,-2-2 0,-1 3 0,-5-1 0,-2 1 0,-1 1 0,-1 0 0,1 0 0,2 0 0,0 0 0,0 0 0,-1 0 0,0 0 0,0 0 0,1 0 0,0 0 0,1-1 0,0 0 0,-1-1 0,2 0 0,0 1 0,4 1 0,-1 0 0,-1 0 0,-3 0 0,-5 0 0,2 0 0,-3 0 0,5 0 0,-3 0 0,2 0 0,-1 0 0,1 0 0,-1 0 0,2 0 0,0 0 0,-1 0 0,-2 0 0,3 0 0,-3 0 0,3 0 0,-3 0 0,-1 0 0,2 0 0,-1 0 0,1 0 0,1 0 0,-4 0 0,5 0 0,-3 0 0,-1 0 0,3 0 0,-4 0 0,4 0 0,-1 0 0,-2 0 0,2 0 0,0 1 0,-2 1 0,4 0 0,-4-1 0,2 1 0,-1-1 0,1 3 0,-2-2 0,4 0 0,-1-2 0,4 1 0,0-1 0,-1 0 0,-5 0 0,-4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1T22:36:41.517"/>
    </inkml:context>
    <inkml:brush xml:id="br0">
      <inkml:brushProperty name="width" value="0.35" units="cm"/>
      <inkml:brushProperty name="height" value="0.35" units="cm"/>
      <inkml:brushProperty name="color" value="#FFFFFF"/>
    </inkml:brush>
  </inkml:definitions>
  <inkml:trace contextRef="#ctx0" brushRef="#br0">18 236 24575,'38'3'0,"-3"-1"0,-8-2 0,0 0 0,0 0 0,3 0 0,3 0 0,-1 0 0,0 0 0,-7 0 0,-3 0 0,-4 0 0,0 0 0,1 0 0,-1-2 0,2-1 0,-1-3 0,4-1 0,3 1 0,1-1 0,2 0 0,-2 0 0,2 0 0,0-2 0,1 0 0,4-3 0,0 0 0,1 0 0,0 0 0,-4 2 0,-1 2 0,-1 0 0,-1 2 0,2 0 0,1 0 0,1 1 0,-1 0 0,-1 0 0,-1 1 0,2 0 0,3-1 0,2 1 0,2 0 0,-1 0 0,-2 0 0,-1 1 0,-2-1 0,-1 0 0,0-1 0,1 1 0,-1-1 0,-4 1 0,1 1 0,6 2 0,2 0 0,8 1 0,-2 0 0,-4 0 0,-4 0 0,-8 0 0,-8 0 0,-5 0 0,-6 0 0,-8 15 0,0-9 0,-4 12 0,5-12 0,0 1 0,1 4 0,6-5 0,0 2 0,6-7 0,-6 2 0,1 0 0,2 2 0,-3-3 0,4 3 0,-4 0 0,2 0 0,0 1 0,0-2 0,-1 0 0,2-2 0,-3-1 0,4 2 0,2 3 0,4 2 0,5 2 0,1 0 0,1 0 0,-2-1 0,1 0 0,1 0 0,0 0 0,-2-1 0,-3-2 0,-6-2 0,-2-1 0,-2-2 0,0 2 0,1-2 0,-2 1 0,3-1 0,-2 0 0,2-1 0,-2 0 0,0 0 0,3 3 0,-1-1 0,5 5 0,-5-3 0,-2 1 0,-1-1 0,1-1 0,-1 0 0,3-2 0,-1 2 0,0-1 0,-2 1 0,0 0 0,-1 1 0,0 4 0,-4 3 0,-2 0 0,-1-1 0,0 0 0,0-3 0,0 5 0,-3-3 0,2-2 0,-5 3 0,1-4 0,-1 1 0,-6-3 0,3-3 0,-7-1 0,0 0 0,-4 0 0,-1-1 0,0-2 0,4-1 0,2-1 0,0 0 0,3 4 0,-1 0 0,2 1 0,1 0 0,1 0 0,-1 0 0,1 0 0,-3 0 0,-2 0 0,1 0 0,0 0 0,2 0 0,0 0 0,0 0 0,-2 0 0,0 0 0,-2 0 0,-1 0 0,-2 0 0,1 0 0,0 0 0,1 0 0,-2 0 0,-1 0 0,1 0 0,1 0 0,2 0 0,-2 0 0,-4 1 0,-6 2 0,-8 2 0,-3 1 0,0 0 0,3-1 0,0 0 0,0 0 0,-2-2 0,2 1 0,2-2 0,4-1 0,4-1 0,4 0 0,3 0 0,3 0 0,1 0 0,1 0 0,2 0 0,1 0 0,-1 0 0,-2 0 0,-3 0 0,-4 0 0,-5 0 0,-2 0 0,-2-1 0,-3-3 0,-5-1 0,-8-3 0,-9-1 0,-3-1 0,2 1 0,8 0 0,10 3 0,6 0 0,4 0 0,3 2 0,3 0 0,4 1 0,1 1 0,-1 0 0,-4 2 0,-2 0 0,2 0 0,-2-2 0,-1 0 0,-5 0 0,-3 0 0,-1 2 0,0 0 0,0 0 0,-1 0 0,2 0 0,1 0 0,-3 0 0,1 0 0,0 0 0,2 0 0,1 0 0,-1 0 0,0 0 0,1 0 0,4 0 0,4 0 0,5 0 0,3 0 0,2 0 0,2 0 0,2-1 0,3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1T22:36:44.267"/>
    </inkml:context>
    <inkml:brush xml:id="br0">
      <inkml:brushProperty name="width" value="0.35" units="cm"/>
      <inkml:brushProperty name="height" value="0.35" units="cm"/>
      <inkml:brushProperty name="color" value="#FFFFFF"/>
    </inkml:brush>
  </inkml:definitions>
  <inkml:trace contextRef="#ctx0" brushRef="#br0">405 60 24575,'38'0'0,"-3"0"0,-15 0 0,-2 0 0,-1 0 0,-2 0 0,3 0 0,1 0 0,-1 0 0,1 0 0,-1 0 0,1 0 0,-1 0 0,2 0 0,1 0 0,-3 0 0,2 0 0,-3 0 0,-2 0 0,0 0 0,-3 1 0,1 1 0,2 0 0,2 1 0,3-1 0,3 1 0,-1 2 0,-3-2 0,-2 0 0,-4-1 0,0 0 0,-1 0 0,1-1 0,-1 0 0,-4-1 0,-32 0 0,8 0 0,-30 2 0,12 2 0,-16 1 0,-14-1 0,-4-3 0,3-1 0,10 0 0,10 0 0,6 0 0,5-2 0,4 0 0,2-1 0,1-3 0,2 2 0,2-2 0,2 2 0,2 1 0,-1-1 0,1 2 0,-1-2 0,1 2 0,-1-1 0,0 1 0,0 0 0,-2 0 0,0 2 0,0-2 0,2 0 0,5 0 0,2 0 0,5 1 0,0-1 0,-1 0 0,-1 0 0,0-1 0,0-3 0,4-3 0,2-2 0,3-2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1T22:36:48.900"/>
    </inkml:context>
    <inkml:brush xml:id="br0">
      <inkml:brushProperty name="width" value="0.35" units="cm"/>
      <inkml:brushProperty name="height" value="0.35" units="cm"/>
      <inkml:brushProperty name="color" value="#FFFFFF"/>
    </inkml:brush>
  </inkml:definitions>
  <inkml:trace contextRef="#ctx0" brushRef="#br0">0 440 24575,'52'0'0,"4"0"0,4 0 0,7 0 0,4 0 0,-2 0 0,-1 0 0,1 0 0,0 0 0,4 0 0,-1 0 0,-4-4 0,-4-2 0,-7 0 0,-4-2 0,1 2 0,-1 0 0,1 0 0,-1 1 0,-2 0 0,-3 1 0,-3 1 0,-9 0 0,-6 0 0,-6 1 0,0 1 0,1-1 0,0 0 0,1 0 0,3 0 0,3 2 0,6 0 0,2 0 0,-3 0 0,-2 0 0,-5 0 0,0 0 0,5 0 0,1 0 0,-1 0 0,-5 0 0,-6 0 0,1 0 0,4 0 0,6 0 0,5 0 0,1 2 0,-5 0 0,-3 1 0,-4 1 0,0 0 0,0 0 0,-5-1 0,-4 0 0,-2-1 0,1 1 0,3 0 0,-1 1 0,-2-1 0,-5-2 0,-4 1 0,-2-1 0,3 2 0,-2 0 0,5-1 0,-1 1 0,-1 0 0,1 0 0,-3 0 0,-1-2 0,3-1 0,-2 0 0,4 0 0,-4 0 0,-2 0 0,-2-11 0,-3 1 0,-2-9 0,-3 5 0,-1 0 0,0-1 0,-2 1 0,0 0 0,-1 5 0,-1 1 0,0-2 0,-1-4 0,1-3 0,1 0 0,0 2 0,-1 6 0,0 1 0,-3 2 0,-3-2 0,-8-1 0,-12-2 0,-11-4 0,-6 1 0,2 1 0,10 4 0,8 5 0,6 2 0,-1 2 0,1 0 0,3 0 0,2 0 0,4 0 0,-4-1 0,-10-2 0,-9 0 0,-9-3 0,-3-1 0,0 1 0,-4-1 0,1 2 0,-7 1 0,-4 0 0,-3-1 0,1 0 0,5 1 0,5-2 0,1-1 0,-1 1 0,-1 2 0,1 0 0,2 1 0,3 1 0,2 0 0,1 2 0,-1 0 0,2 0 0,2-2 0,2 0 0,6 0 0,3 0 0,5 2 0,0 0 0,-1 0 0,-5 0 0,-1-2 0,4 1 0,3-1 0,1 1 0,-1 1 0,-1 0 0,0 0 0,2 0 0,4 0 0,1 0 0,2 0 0,-1 0 0,0 0 0,1 0 0,6 0 0,2-1 0,4-1 0,1-1 0,0-2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1T22:36:53.484"/>
    </inkml:context>
    <inkml:brush xml:id="br0">
      <inkml:brushProperty name="width" value="0.35" units="cm"/>
      <inkml:brushProperty name="height" value="0.35" units="cm"/>
      <inkml:brushProperty name="color" value="#FFFFFF"/>
    </inkml:brush>
  </inkml:definitions>
  <inkml:trace contextRef="#ctx0" brushRef="#br0">65 322 24575,'37'0'0,"2"0"0,-8 0 0,6 0 0,-3 0 0,1 0 0,-2 0 0,1 0 0,4 0 0,7 0 0,6 0 0,3 0 0,2 0 0,0 0 0,-2 0 0,-3 0 0,-6 0 0,-6 0 0,-4 0 0,-6 0 0,0 0 0,0 0 0,-2 0 0,-3 0 0,-5 0 0,-6 0 0,-3 0 0,-1 1 0,-1 0 0,8 2 0,4 1 0,3-2 0,-3 0 0,-6-2 0,-3 0 0,0 0 0,5 0 0,5 0 0,4 0 0,4 0 0,0 0 0,0 0 0,0 0 0,1 0 0,-1 0 0,-2 0 0,-4 0 0,-3 0 0,-1 0 0,-1 0 0,-1 0 0,1 0 0,-2 0 0,0 0 0,3 0 0,2 0 0,0 0 0,1 0 0,-3 0 0,1 0 0,5 0 0,2 0 0,3 0 0,-2 0 0,-5 0 0,-4 0 0,-4 0 0,4 0 0,5 0 0,4 0 0,0 0 0,-5 0 0,-4 0 0,1 0 0,-1 0 0,2 0 0,-2 0 0,-1 0 0,0 0 0,3 0 0,2 0 0,2 0 0,-2-1 0,-2-1 0,-3-1 0,-4 0 0,-3 1 0,0-1 0,4 0 0,6-1 0,5-2 0,-2 0 0,-3 2 0,-4 0 0,3 0 0,2 2 0,0-1 0,-2 1 0,-6 0 0,-3-1 0,0 1 0,-2 1 0,1-2 0,-3-2 0,-3-3 0,-2-3 0,-2 0 0,0-2 0,-2-3 0,-5-4 0,-3-3 0,-5 0 0,-1 4 0,0 4 0,1 5 0,0 4 0,0 2 0,-4 3 0,-4-1 0,-1 0 0,-3 0 0,2 0 0,-4 0 0,-5 2 0,-5 0 0,-3 0 0,3 0 0,4-1 0,3-1 0,-1 0 0,-5 0 0,-5 0 0,-5-3 0,1 0 0,0-1 0,3 1 0,0 1 0,1 0 0,1 3 0,3 1 0,-2-2 0,2-1 0,0 1 0,1 0 0,4 2 0,4 0 0,4 0 0,-2 0 0,0 0 0,-5 0 0,-4 0 0,-4-1 0,-2-2 0,-3-2 0,-2 0 0,-1 0 0,-2 3 0,-3 0 0,1 2 0,5 0 0,5 0 0,8 0 0,5 0 0,2 0 0,2 0 0,2 0 0,-2 0 0,2 0 0,-1 0 0,-5 0 0,-5 0 0,-8 0 0,-11 0 0,-4 2 0,-6 0 0,-3 1 0,6-2 0,7-1 0,13 0 0,15 0 0,11 0 0,6 0 0,4-6 0,2-2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1T22:36:58.117"/>
    </inkml:context>
    <inkml:brush xml:id="br0">
      <inkml:brushProperty name="width" value="0.35" units="cm"/>
      <inkml:brushProperty name="height" value="0.35" units="cm"/>
      <inkml:brushProperty name="color" value="#FFFFFF"/>
    </inkml:brush>
  </inkml:definitions>
  <inkml:trace contextRef="#ctx0" brushRef="#br0">264 357 24575,'41'-3'0,"3"1"0,-3 2 0,-2 0 0,-5 0 0,-5 0 0,-1 0 0,-4 0 0,-3 0 0,-1 0 0,0 0 0,1 0 0,1 0 0,1 0 0,1 0 0,6 0 0,5-4 0,3-3 0,2 0 0,-2-1 0,-4 4 0,1 0 0,0-1 0,2 0 0,4-1 0,3 0 0,0 1 0,-3 0 0,-6 2 0,-5 1 0,1 1 0,7 1 0,6 0 0,3 0 0,-4 0 0,-6 0 0,-8 0 0,-4 0 0,-2 0 0,0 0 0,0 2 0,-2-1 0,-4 1 0,-2-1 0,0-1 0,4 0 0,6 0 0,4 0 0,0 0 0,0 0 0,0 0 0,0 0 0,7 0 0,5 0 0,3 0 0,-1 0 0,-6 0 0,-9 0 0,-9 0 0,-6 0 0,-2 0 0,5 0 0,4-1 0,4-1 0,-2 0 0,-2 1 0,3 1 0,1 0 0,2 0 0,-3 0 0,-5 0 0,-5 0 0,-3 0 0,-1 0 0,0 0 0,2 0 0,2 0 0,-2 0 0,0 0 0,0 0 0,1 0 0,3 0 0,0 0 0,-2 0 0,-3 0 0,0 0 0,1 0 0,7 0 0,4 0 0,0 0 0,-4 0 0,-6 0 0,-5 0 0,3 0 0,-1 0 0,2 0 0,-2 0 0,2 0 0,9-2 0,6-2 0,-1-2 0,-4-1 0,-10 2 0,-4 1 0,-3-7 0,-3 5 0,0-9 0,-2 7 0,-2-2 0,-3 2 0,-4 0 0,-7-4 0,-6-1 0,-3-2 0,-1 1 0,3 5 0,-1 3 0,-8 2 0,-8 1 0,-9-1 0,-6-1 0,-5 2 0,-5 1 0,-4 0 0,1-1 0,7 0 0,8 1 0,4 2 0,3 0 0,-2 0 0,-8 0 0,-1 0 0,-3 0 0,1 0 0,7 0 0,1 0 0,2 0 0,-1 0 0,0 0 0,0 0 0,-3 0 0,3 0 0,-5-3 0,-1 0 0,-1-2 0,-2-2 0,4 2 0,2 0 0,4 1 0,4 1 0,3 1 0,4 1 0,3 1 0,-2 0 0,-3 0 0,-4 0 0,1 0 0,5 0 0,3-1 0,-3-1 0,-7-1 0,-5-2 0,2-1 0,6 2 0,7 0 0,3 3 0,3 1 0,1 0 0,2 0 0,0 0 0,2 0 0,4-2 0,5-1 0,7-1 0,2-2 0,3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71595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0ED"/>
          </a:solidFill>
          <a:ln/>
        </p:spPr>
        <p:txBody>
          <a:bodyPr/>
          <a:lstStyle/>
          <a:p>
            <a:endParaRPr lang="en-US"/>
          </a:p>
        </p:txBody>
      </p:sp>
      <p:sp>
        <p:nvSpPr>
          <p:cNvPr id="3" name="Shape 1"/>
          <p:cNvSpPr/>
          <p:nvPr/>
        </p:nvSpPr>
        <p:spPr>
          <a:xfrm>
            <a:off x="0" y="0"/>
            <a:ext cx="9144000" cy="51435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customXml" Target="../ink/ink1.xml"/></Relationships>
</file>

<file path=ppt/slides/_rels/slide4.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customXml" Target="../ink/ink7.xml"/><Relationship Id="rId3" Type="http://schemas.openxmlformats.org/officeDocument/2006/relationships/image" Target="../media/image7.jpeg"/><Relationship Id="rId7" Type="http://schemas.openxmlformats.org/officeDocument/2006/relationships/image" Target="../media/image10.png"/><Relationship Id="rId12" Type="http://schemas.openxmlformats.org/officeDocument/2006/relationships/customXml" Target="../ink/ink6.xml"/><Relationship Id="rId2" Type="http://schemas.openxmlformats.org/officeDocument/2006/relationships/notesSlide" Target="../notesSlides/notesSlide4.xml"/><Relationship Id="rId16" Type="http://schemas.openxmlformats.org/officeDocument/2006/relationships/customXml" Target="../ink/ink10.xml"/><Relationship Id="rId1" Type="http://schemas.openxmlformats.org/officeDocument/2006/relationships/slideLayout" Target="../slideLayouts/slideLayout2.xml"/><Relationship Id="rId6" Type="http://schemas.openxmlformats.org/officeDocument/2006/relationships/customXml" Target="../ink/ink2.xml"/><Relationship Id="rId11" Type="http://schemas.openxmlformats.org/officeDocument/2006/relationships/customXml" Target="../ink/ink5.xml"/><Relationship Id="rId5" Type="http://schemas.openxmlformats.org/officeDocument/2006/relationships/image" Target="../media/image9.svg"/><Relationship Id="rId15" Type="http://schemas.openxmlformats.org/officeDocument/2006/relationships/customXml" Target="../ink/ink9.xml"/><Relationship Id="rId10" Type="http://schemas.openxmlformats.org/officeDocument/2006/relationships/customXml" Target="../ink/ink4.xml"/><Relationship Id="rId4" Type="http://schemas.openxmlformats.org/officeDocument/2006/relationships/image" Target="../media/image8.svg"/><Relationship Id="rId9" Type="http://schemas.openxmlformats.org/officeDocument/2006/relationships/image" Target="../media/image11.png"/><Relationship Id="rId14" Type="http://schemas.openxmlformats.org/officeDocument/2006/relationships/customXml" Target="../ink/ink8.xml"/></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customXml" Target="../ink/ink11.xml"/><Relationship Id="rId7" Type="http://schemas.openxmlformats.org/officeDocument/2006/relationships/customXml" Target="../ink/ink1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customXml" Target="../ink/ink12.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19.svg"/><Relationship Id="rId13" Type="http://schemas.openxmlformats.org/officeDocument/2006/relationships/customXml" Target="../ink/ink15.xml"/><Relationship Id="rId3" Type="http://schemas.openxmlformats.org/officeDocument/2006/relationships/image" Target="../media/image14.svg"/><Relationship Id="rId7" Type="http://schemas.openxmlformats.org/officeDocument/2006/relationships/image" Target="../media/image18.svg"/><Relationship Id="rId12"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7.svg"/><Relationship Id="rId11" Type="http://schemas.openxmlformats.org/officeDocument/2006/relationships/customXml" Target="../ink/ink14.xml"/><Relationship Id="rId5" Type="http://schemas.openxmlformats.org/officeDocument/2006/relationships/image" Target="../media/image16.svg"/><Relationship Id="rId10" Type="http://schemas.openxmlformats.org/officeDocument/2006/relationships/image" Target="../media/image21.svg"/><Relationship Id="rId4" Type="http://schemas.openxmlformats.org/officeDocument/2006/relationships/image" Target="../media/image15.svg"/><Relationship Id="rId9" Type="http://schemas.openxmlformats.org/officeDocument/2006/relationships/image" Target="../media/image20.svg"/><Relationship Id="rId14" Type="http://schemas.openxmlformats.org/officeDocument/2006/relationships/image" Target="../media/image23.png"/></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customXml" Target="../ink/ink17.xml"/><Relationship Id="rId5" Type="http://schemas.openxmlformats.org/officeDocument/2006/relationships/image" Target="../media/image25.png"/><Relationship Id="rId4" Type="http://schemas.openxmlformats.org/officeDocument/2006/relationships/customXml" Target="../ink/ink16.xml"/></Relationships>
</file>

<file path=ppt/slides/_rels/slide8.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customXml" Target="../ink/ink18.xml"/><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image" Target="../media/image30.jpeg"/><Relationship Id="rId7"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customXml" Target="../ink/ink19.xml"/><Relationship Id="rId5" Type="http://schemas.openxmlformats.org/officeDocument/2006/relationships/image" Target="../media/image32.png"/><Relationship Id="rId4" Type="http://schemas.openxmlformats.org/officeDocument/2006/relationships/image" Target="../media/image31.jpeg"/></Relationships>
</file>

<file path=ppt/slides/_rels/slide1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customXml" Target="../ink/ink20.xml"/><Relationship Id="rId4" Type="http://schemas.openxmlformats.org/officeDocument/2006/relationships/image" Target="../media/image35.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1415058"/>
            <a:ext cx="4722763" cy="885974"/>
          </a:xfrm>
          <a:prstGeom prst="rect">
            <a:avLst/>
          </a:prstGeom>
          <a:noFill/>
          <a:ln/>
        </p:spPr>
        <p:txBody>
          <a:bodyPr wrap="square" lIns="0" tIns="0" rIns="0" bIns="0" rtlCol="0" anchor="t">
            <a:normAutofit/>
          </a:bodyPr>
          <a:lstStyle/>
          <a:p>
            <a:pPr marL="0" indent="0" algn="l">
              <a:lnSpc>
                <a:spcPct val="104000"/>
              </a:lnSpc>
              <a:buNone/>
            </a:pPr>
            <a:r>
              <a:rPr lang="en-US" sz="2750" dirty="0">
                <a:solidFill>
                  <a:srgbClr val="0C0D0F"/>
                </a:solidFill>
                <a:latin typeface="Inter" pitchFamily="34" charset="0"/>
                <a:ea typeface="Inter" pitchFamily="34" charset="-122"/>
                <a:cs typeface="Inter" pitchFamily="34" charset="-120"/>
              </a:rPr>
              <a:t>Grocery Management System Using SAP RAP</a:t>
            </a:r>
            <a:endParaRPr lang="en-US" sz="2750" dirty="0"/>
          </a:p>
        </p:txBody>
      </p:sp>
      <p:sp>
        <p:nvSpPr>
          <p:cNvPr id="4" name="Text 1"/>
          <p:cNvSpPr/>
          <p:nvPr/>
        </p:nvSpPr>
        <p:spPr>
          <a:xfrm>
            <a:off x="496119" y="2513633"/>
            <a:ext cx="5179963" cy="226814"/>
          </a:xfrm>
          <a:prstGeom prst="rect">
            <a:avLst/>
          </a:prstGeom>
          <a:noFill/>
          <a:ln/>
        </p:spPr>
        <p:txBody>
          <a:bodyPr wrap="none" lIns="0" tIns="0" rIns="0" bIns="0" rtlCol="0" anchor="t"/>
          <a:lstStyle/>
          <a:p>
            <a:pPr marL="0" indent="0" algn="l">
              <a:lnSpc>
                <a:spcPct val="133000"/>
              </a:lnSpc>
              <a:buNone/>
            </a:pPr>
            <a:r>
              <a:rPr lang="en-US" sz="1100" dirty="0">
                <a:solidFill>
                  <a:srgbClr val="55575A"/>
                </a:solidFill>
                <a:latin typeface="Manrope" pitchFamily="34" charset="0"/>
                <a:ea typeface="Manrope" pitchFamily="34" charset="-122"/>
                <a:cs typeface="Manrope" pitchFamily="34" charset="-120"/>
              </a:rPr>
              <a:t>SAP ABAP &amp; Cloud Development · Module Project Report</a:t>
            </a:r>
            <a:endParaRPr lang="en-US" sz="1100" dirty="0"/>
          </a:p>
        </p:txBody>
      </p:sp>
      <p:sp>
        <p:nvSpPr>
          <p:cNvPr id="5" name="Shape 2"/>
          <p:cNvSpPr/>
          <p:nvPr/>
        </p:nvSpPr>
        <p:spPr>
          <a:xfrm>
            <a:off x="496119" y="2899916"/>
            <a:ext cx="1535460" cy="215354"/>
          </a:xfrm>
          <a:prstGeom prst="roundRect">
            <a:avLst>
              <a:gd name="adj" fmla="val 47398"/>
            </a:avLst>
          </a:prstGeom>
          <a:solidFill>
            <a:srgbClr val="FFD7CC"/>
          </a:solidFill>
          <a:ln/>
        </p:spPr>
        <p:txBody>
          <a:bodyPr/>
          <a:lstStyle/>
          <a:p>
            <a:endParaRPr lang="en-US"/>
          </a:p>
        </p:txBody>
      </p:sp>
      <p:sp>
        <p:nvSpPr>
          <p:cNvPr id="6" name="Text 3"/>
          <p:cNvSpPr/>
          <p:nvPr/>
        </p:nvSpPr>
        <p:spPr>
          <a:xfrm>
            <a:off x="581174" y="2942406"/>
            <a:ext cx="1822549" cy="130373"/>
          </a:xfrm>
          <a:prstGeom prst="rect">
            <a:avLst/>
          </a:prstGeom>
          <a:noFill/>
          <a:ln/>
        </p:spPr>
        <p:txBody>
          <a:bodyPr wrap="none" lIns="0" tIns="0" rIns="0" bIns="0" rtlCol="0" anchor="t"/>
          <a:lstStyle/>
          <a:p>
            <a:pPr marL="0" indent="0" algn="l">
              <a:lnSpc>
                <a:spcPct val="96000"/>
              </a:lnSpc>
              <a:buNone/>
            </a:pPr>
            <a:r>
              <a:rPr lang="en-US" sz="850" dirty="0">
                <a:solidFill>
                  <a:srgbClr val="55575A"/>
                </a:solidFill>
                <a:latin typeface="Manrope" pitchFamily="34" charset="0"/>
                <a:ea typeface="Manrope" pitchFamily="34" charset="-122"/>
                <a:cs typeface="Manrope" pitchFamily="34" charset="-120"/>
              </a:rPr>
              <a:t>SUBMITTED: JULY 21, 2026</a:t>
            </a:r>
            <a:endParaRPr lang="en-US" sz="850" dirty="0"/>
          </a:p>
        </p:txBody>
      </p:sp>
      <p:sp>
        <p:nvSpPr>
          <p:cNvPr id="7" name="Text 4"/>
          <p:cNvSpPr/>
          <p:nvPr/>
        </p:nvSpPr>
        <p:spPr>
          <a:xfrm>
            <a:off x="496119" y="3274740"/>
            <a:ext cx="4722763"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55575A"/>
                </a:solidFill>
                <a:latin typeface="Manrope" pitchFamily="34" charset="0"/>
                <a:ea typeface="Manrope" pitchFamily="34" charset="-122"/>
                <a:cs typeface="Manrope" pitchFamily="34" charset="-120"/>
              </a:rPr>
              <a:t>Sandeep Chava (100007689) · Nilesh Dokuparthi (100008372) · Vikas Vikas (100008525)</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pic>
        <p:nvPicPr>
          <p:cNvPr id="3" name="Image 1" descr="preencoded.png"/>
          <p:cNvPicPr>
            <a:picLocks noChangeAspect="1"/>
          </p:cNvPicPr>
          <p:nvPr/>
        </p:nvPicPr>
        <p:blipFill>
          <a:blip r:embed="rId4"/>
          <a:stretch>
            <a:fillRect/>
          </a:stretch>
        </p:blipFill>
        <p:spPr>
          <a:xfrm>
            <a:off x="5772522" y="1467073"/>
            <a:ext cx="3313881" cy="2209279"/>
          </a:xfrm>
          <a:prstGeom prst="rect">
            <a:avLst/>
          </a:prstGeom>
        </p:spPr>
      </p:pic>
      <p:sp>
        <p:nvSpPr>
          <p:cNvPr id="4" name="Text 0"/>
          <p:cNvSpPr/>
          <p:nvPr/>
        </p:nvSpPr>
        <p:spPr>
          <a:xfrm>
            <a:off x="496119" y="412626"/>
            <a:ext cx="4722763" cy="719882"/>
          </a:xfrm>
          <a:prstGeom prst="rect">
            <a:avLst/>
          </a:prstGeom>
          <a:noFill/>
          <a:ln/>
        </p:spPr>
        <p:txBody>
          <a:bodyPr wrap="square" lIns="0" tIns="0" rIns="0" bIns="0" rtlCol="0" anchor="t">
            <a:normAutofit/>
          </a:bodyPr>
          <a:lstStyle/>
          <a:p>
            <a:pPr marL="0" indent="0" algn="l">
              <a:lnSpc>
                <a:spcPct val="104000"/>
              </a:lnSpc>
              <a:buNone/>
            </a:pPr>
            <a:r>
              <a:rPr lang="en-US" sz="2250" dirty="0">
                <a:solidFill>
                  <a:srgbClr val="0C0D0F"/>
                </a:solidFill>
                <a:latin typeface="Inter" pitchFamily="34" charset="0"/>
                <a:ea typeface="Inter" pitchFamily="34" charset="-122"/>
                <a:cs typeface="Inter" pitchFamily="34" charset="-120"/>
              </a:rPr>
              <a:t>The Problem with Manual Grocery Management</a:t>
            </a:r>
            <a:endParaRPr lang="en-US" sz="2250" dirty="0"/>
          </a:p>
        </p:txBody>
      </p:sp>
      <p:sp>
        <p:nvSpPr>
          <p:cNvPr id="5" name="Text 1"/>
          <p:cNvSpPr/>
          <p:nvPr/>
        </p:nvSpPr>
        <p:spPr>
          <a:xfrm>
            <a:off x="496119" y="1272853"/>
            <a:ext cx="4722763" cy="333970"/>
          </a:xfrm>
          <a:prstGeom prst="rect">
            <a:avLst/>
          </a:prstGeom>
          <a:noFill/>
          <a:ln/>
        </p:spPr>
        <p:txBody>
          <a:bodyPr wrap="square" lIns="0" tIns="0" rIns="0" bIns="0" rtlCol="0" anchor="t">
            <a:normAutofit/>
          </a:bodyPr>
          <a:lstStyle/>
          <a:p>
            <a:pPr marL="0" indent="0" algn="l">
              <a:lnSpc>
                <a:spcPct val="121000"/>
              </a:lnSpc>
              <a:buNone/>
            </a:pPr>
            <a:r>
              <a:rPr lang="en-US" sz="900" dirty="0">
                <a:solidFill>
                  <a:srgbClr val="55575A"/>
                </a:solidFill>
                <a:latin typeface="Manrope" pitchFamily="34" charset="0"/>
                <a:ea typeface="Manrope" pitchFamily="34" charset="-122"/>
                <a:cs typeface="Manrope" pitchFamily="34" charset="-120"/>
              </a:rPr>
              <a:t>Retail grocery operations manage hundreds of products across multiple stores and categories. Manual processes introduce critical business risks:</a:t>
            </a:r>
            <a:endParaRPr lang="en-US" sz="900" dirty="0"/>
          </a:p>
        </p:txBody>
      </p:sp>
      <p:sp>
        <p:nvSpPr>
          <p:cNvPr id="6" name="Shape 2"/>
          <p:cNvSpPr/>
          <p:nvPr/>
        </p:nvSpPr>
        <p:spPr>
          <a:xfrm>
            <a:off x="496119" y="1712044"/>
            <a:ext cx="4722763" cy="809774"/>
          </a:xfrm>
          <a:prstGeom prst="roundRect">
            <a:avLst>
              <a:gd name="adj" fmla="val 12802"/>
            </a:avLst>
          </a:prstGeom>
          <a:solidFill>
            <a:srgbClr val="FFFFFF"/>
          </a:solidFill>
          <a:ln w="4763">
            <a:solidFill>
              <a:srgbClr val="FF7047"/>
            </a:solidFill>
            <a:prstDash val="solid"/>
          </a:ln>
        </p:spPr>
        <p:txBody>
          <a:bodyPr/>
          <a:lstStyle/>
          <a:p>
            <a:endParaRPr lang="en-US"/>
          </a:p>
        </p:txBody>
      </p:sp>
      <p:sp>
        <p:nvSpPr>
          <p:cNvPr id="7" name="Text 3"/>
          <p:cNvSpPr/>
          <p:nvPr/>
        </p:nvSpPr>
        <p:spPr>
          <a:xfrm>
            <a:off x="616000" y="1831925"/>
            <a:ext cx="4483001" cy="179933"/>
          </a:xfrm>
          <a:prstGeom prst="rect">
            <a:avLst/>
          </a:prstGeom>
          <a:noFill/>
          <a:ln/>
        </p:spPr>
        <p:txBody>
          <a:bodyPr wrap="none" lIns="0" tIns="0" rIns="0" bIns="0" rtlCol="0" anchor="t"/>
          <a:lstStyle/>
          <a:p>
            <a:pPr marL="0" indent="0" algn="l">
              <a:lnSpc>
                <a:spcPct val="104000"/>
              </a:lnSpc>
              <a:buNone/>
            </a:pPr>
            <a:r>
              <a:rPr lang="en-US" sz="1100" dirty="0">
                <a:solidFill>
                  <a:srgbClr val="55575A"/>
                </a:solidFill>
                <a:latin typeface="Inter" pitchFamily="34" charset="0"/>
                <a:ea typeface="Inter" pitchFamily="34" charset="-122"/>
                <a:cs typeface="Inter" pitchFamily="34" charset="-120"/>
              </a:rPr>
              <a:t>Duplicate Records</a:t>
            </a:r>
            <a:endParaRPr lang="en-US" sz="1100" dirty="0"/>
          </a:p>
        </p:txBody>
      </p:sp>
      <p:sp>
        <p:nvSpPr>
          <p:cNvPr id="8" name="Text 4"/>
          <p:cNvSpPr/>
          <p:nvPr/>
        </p:nvSpPr>
        <p:spPr>
          <a:xfrm>
            <a:off x="616000" y="2067967"/>
            <a:ext cx="4483001" cy="333970"/>
          </a:xfrm>
          <a:prstGeom prst="rect">
            <a:avLst/>
          </a:prstGeom>
          <a:noFill/>
          <a:ln/>
        </p:spPr>
        <p:txBody>
          <a:bodyPr wrap="square" lIns="0" tIns="0" rIns="0" bIns="0" rtlCol="0" anchor="t">
            <a:normAutofit/>
          </a:bodyPr>
          <a:lstStyle/>
          <a:p>
            <a:pPr marL="0" indent="0" algn="l">
              <a:lnSpc>
                <a:spcPct val="121000"/>
              </a:lnSpc>
              <a:buNone/>
            </a:pPr>
            <a:r>
              <a:rPr lang="en-US" sz="900" dirty="0">
                <a:solidFill>
                  <a:srgbClr val="55575A"/>
                </a:solidFill>
                <a:latin typeface="Manrope" pitchFamily="34" charset="0"/>
                <a:ea typeface="Manrope" pitchFamily="34" charset="-122"/>
                <a:cs typeface="Manrope" pitchFamily="34" charset="-120"/>
              </a:rPr>
              <a:t>No semantic key enforcement leads to repeated product entries and data inconsistency.</a:t>
            </a:r>
            <a:endParaRPr lang="en-US" sz="900" dirty="0"/>
          </a:p>
        </p:txBody>
      </p:sp>
      <p:sp>
        <p:nvSpPr>
          <p:cNvPr id="9" name="Shape 5"/>
          <p:cNvSpPr/>
          <p:nvPr/>
        </p:nvSpPr>
        <p:spPr>
          <a:xfrm>
            <a:off x="496119" y="2615357"/>
            <a:ext cx="4722763" cy="642789"/>
          </a:xfrm>
          <a:prstGeom prst="roundRect">
            <a:avLst>
              <a:gd name="adj" fmla="val 16128"/>
            </a:avLst>
          </a:prstGeom>
          <a:solidFill>
            <a:srgbClr val="FFFFFF"/>
          </a:solidFill>
          <a:ln w="4763">
            <a:solidFill>
              <a:srgbClr val="FF7047"/>
            </a:solidFill>
            <a:prstDash val="solid"/>
          </a:ln>
        </p:spPr>
        <p:txBody>
          <a:bodyPr/>
          <a:lstStyle/>
          <a:p>
            <a:endParaRPr lang="en-US"/>
          </a:p>
        </p:txBody>
      </p:sp>
      <p:sp>
        <p:nvSpPr>
          <p:cNvPr id="10" name="Text 6"/>
          <p:cNvSpPr/>
          <p:nvPr/>
        </p:nvSpPr>
        <p:spPr>
          <a:xfrm>
            <a:off x="616000" y="2735238"/>
            <a:ext cx="4483001" cy="179933"/>
          </a:xfrm>
          <a:prstGeom prst="rect">
            <a:avLst/>
          </a:prstGeom>
          <a:noFill/>
          <a:ln/>
        </p:spPr>
        <p:txBody>
          <a:bodyPr wrap="none" lIns="0" tIns="0" rIns="0" bIns="0" rtlCol="0" anchor="t"/>
          <a:lstStyle/>
          <a:p>
            <a:pPr marL="0" indent="0" algn="l">
              <a:lnSpc>
                <a:spcPct val="104000"/>
              </a:lnSpc>
              <a:buNone/>
            </a:pPr>
            <a:r>
              <a:rPr lang="en-US" sz="1100" dirty="0">
                <a:solidFill>
                  <a:srgbClr val="55575A"/>
                </a:solidFill>
                <a:latin typeface="Inter" pitchFamily="34" charset="0"/>
                <a:ea typeface="Inter" pitchFamily="34" charset="-122"/>
                <a:cs typeface="Inter" pitchFamily="34" charset="-120"/>
              </a:rPr>
              <a:t>Inconsistent Pricing</a:t>
            </a:r>
            <a:endParaRPr lang="en-US" sz="1100" dirty="0"/>
          </a:p>
        </p:txBody>
      </p:sp>
      <p:sp>
        <p:nvSpPr>
          <p:cNvPr id="11" name="Text 7"/>
          <p:cNvSpPr/>
          <p:nvPr/>
        </p:nvSpPr>
        <p:spPr>
          <a:xfrm>
            <a:off x="616000" y="2971279"/>
            <a:ext cx="4483001" cy="166985"/>
          </a:xfrm>
          <a:prstGeom prst="rect">
            <a:avLst/>
          </a:prstGeom>
          <a:noFill/>
          <a:ln/>
        </p:spPr>
        <p:txBody>
          <a:bodyPr wrap="none" lIns="0" tIns="0" rIns="0" bIns="0" rtlCol="0" anchor="t"/>
          <a:lstStyle/>
          <a:p>
            <a:pPr marL="0" indent="0" algn="l">
              <a:lnSpc>
                <a:spcPct val="121000"/>
              </a:lnSpc>
              <a:buNone/>
            </a:pPr>
            <a:r>
              <a:rPr lang="en-US" sz="900" dirty="0">
                <a:solidFill>
                  <a:srgbClr val="55575A"/>
                </a:solidFill>
                <a:latin typeface="Manrope" pitchFamily="34" charset="0"/>
                <a:ea typeface="Manrope" pitchFamily="34" charset="-122"/>
                <a:cs typeface="Manrope" pitchFamily="34" charset="-120"/>
              </a:rPr>
              <a:t>Unvalidated base prices and currency codes produce unreliable financial data.</a:t>
            </a:r>
            <a:endParaRPr lang="en-US" sz="900" dirty="0"/>
          </a:p>
        </p:txBody>
      </p:sp>
      <p:sp>
        <p:nvSpPr>
          <p:cNvPr id="12" name="Shape 8"/>
          <p:cNvSpPr/>
          <p:nvPr/>
        </p:nvSpPr>
        <p:spPr>
          <a:xfrm>
            <a:off x="496119" y="3351684"/>
            <a:ext cx="4722763" cy="642789"/>
          </a:xfrm>
          <a:prstGeom prst="roundRect">
            <a:avLst>
              <a:gd name="adj" fmla="val 16128"/>
            </a:avLst>
          </a:prstGeom>
          <a:solidFill>
            <a:srgbClr val="FFFFFF"/>
          </a:solidFill>
          <a:ln w="4763">
            <a:solidFill>
              <a:srgbClr val="FF7047"/>
            </a:solidFill>
            <a:prstDash val="solid"/>
          </a:ln>
        </p:spPr>
        <p:txBody>
          <a:bodyPr/>
          <a:lstStyle/>
          <a:p>
            <a:endParaRPr lang="en-US"/>
          </a:p>
        </p:txBody>
      </p:sp>
      <p:sp>
        <p:nvSpPr>
          <p:cNvPr id="13" name="Text 9"/>
          <p:cNvSpPr/>
          <p:nvPr/>
        </p:nvSpPr>
        <p:spPr>
          <a:xfrm>
            <a:off x="616000" y="3471565"/>
            <a:ext cx="4483001" cy="179933"/>
          </a:xfrm>
          <a:prstGeom prst="rect">
            <a:avLst/>
          </a:prstGeom>
          <a:noFill/>
          <a:ln/>
        </p:spPr>
        <p:txBody>
          <a:bodyPr wrap="none" lIns="0" tIns="0" rIns="0" bIns="0" rtlCol="0" anchor="t"/>
          <a:lstStyle/>
          <a:p>
            <a:pPr marL="0" indent="0" algn="l">
              <a:lnSpc>
                <a:spcPct val="104000"/>
              </a:lnSpc>
              <a:buNone/>
            </a:pPr>
            <a:r>
              <a:rPr lang="en-US" sz="1100" dirty="0">
                <a:solidFill>
                  <a:srgbClr val="55575A"/>
                </a:solidFill>
                <a:latin typeface="Inter" pitchFamily="34" charset="0"/>
                <a:ea typeface="Inter" pitchFamily="34" charset="-122"/>
                <a:cs typeface="Inter" pitchFamily="34" charset="-120"/>
              </a:rPr>
              <a:t>Missing Details</a:t>
            </a:r>
            <a:endParaRPr lang="en-US" sz="1100" dirty="0"/>
          </a:p>
        </p:txBody>
      </p:sp>
      <p:sp>
        <p:nvSpPr>
          <p:cNvPr id="14" name="Text 10"/>
          <p:cNvSpPr/>
          <p:nvPr/>
        </p:nvSpPr>
        <p:spPr>
          <a:xfrm>
            <a:off x="616000" y="3707606"/>
            <a:ext cx="4483001" cy="166985"/>
          </a:xfrm>
          <a:prstGeom prst="rect">
            <a:avLst/>
          </a:prstGeom>
          <a:noFill/>
          <a:ln/>
        </p:spPr>
        <p:txBody>
          <a:bodyPr wrap="none" lIns="0" tIns="0" rIns="0" bIns="0" rtlCol="0" anchor="t"/>
          <a:lstStyle/>
          <a:p>
            <a:pPr marL="0" indent="0" algn="l">
              <a:lnSpc>
                <a:spcPct val="121000"/>
              </a:lnSpc>
              <a:buNone/>
            </a:pPr>
            <a:r>
              <a:rPr lang="en-US" sz="900" dirty="0">
                <a:solidFill>
                  <a:srgbClr val="55575A"/>
                </a:solidFill>
                <a:latin typeface="Manrope" pitchFamily="34" charset="0"/>
                <a:ea typeface="Manrope" pitchFamily="34" charset="-122"/>
                <a:cs typeface="Manrope" pitchFamily="34" charset="-120"/>
              </a:rPr>
              <a:t>No mandatory field checks allow incomplete records to enter the system.</a:t>
            </a:r>
            <a:endParaRPr lang="en-US" sz="900" dirty="0"/>
          </a:p>
        </p:txBody>
      </p:sp>
      <p:sp>
        <p:nvSpPr>
          <p:cNvPr id="15" name="Shape 11"/>
          <p:cNvSpPr/>
          <p:nvPr/>
        </p:nvSpPr>
        <p:spPr>
          <a:xfrm>
            <a:off x="496119" y="4088011"/>
            <a:ext cx="4722763" cy="642789"/>
          </a:xfrm>
          <a:prstGeom prst="roundRect">
            <a:avLst>
              <a:gd name="adj" fmla="val 16128"/>
            </a:avLst>
          </a:prstGeom>
          <a:solidFill>
            <a:srgbClr val="FFFFFF"/>
          </a:solidFill>
          <a:ln w="4763">
            <a:solidFill>
              <a:srgbClr val="FF7047"/>
            </a:solidFill>
            <a:prstDash val="solid"/>
          </a:ln>
        </p:spPr>
        <p:txBody>
          <a:bodyPr/>
          <a:lstStyle/>
          <a:p>
            <a:endParaRPr lang="en-US"/>
          </a:p>
        </p:txBody>
      </p:sp>
      <p:sp>
        <p:nvSpPr>
          <p:cNvPr id="16" name="Text 12"/>
          <p:cNvSpPr/>
          <p:nvPr/>
        </p:nvSpPr>
        <p:spPr>
          <a:xfrm>
            <a:off x="616000" y="4207892"/>
            <a:ext cx="4483001" cy="179933"/>
          </a:xfrm>
          <a:prstGeom prst="rect">
            <a:avLst/>
          </a:prstGeom>
          <a:noFill/>
          <a:ln/>
        </p:spPr>
        <p:txBody>
          <a:bodyPr wrap="none" lIns="0" tIns="0" rIns="0" bIns="0" rtlCol="0" anchor="t"/>
          <a:lstStyle/>
          <a:p>
            <a:pPr marL="0" indent="0" algn="l">
              <a:lnSpc>
                <a:spcPct val="104000"/>
              </a:lnSpc>
              <a:buNone/>
            </a:pPr>
            <a:r>
              <a:rPr lang="en-US" sz="1100" dirty="0">
                <a:solidFill>
                  <a:srgbClr val="55575A"/>
                </a:solidFill>
                <a:latin typeface="Inter" pitchFamily="34" charset="0"/>
                <a:ea typeface="Inter" pitchFamily="34" charset="-122"/>
                <a:cs typeface="Inter" pitchFamily="34" charset="-120"/>
              </a:rPr>
              <a:t>No Transaction Safety</a:t>
            </a:r>
            <a:endParaRPr lang="en-US" sz="1100" dirty="0"/>
          </a:p>
        </p:txBody>
      </p:sp>
      <p:sp>
        <p:nvSpPr>
          <p:cNvPr id="17" name="Text 13"/>
          <p:cNvSpPr/>
          <p:nvPr/>
        </p:nvSpPr>
        <p:spPr>
          <a:xfrm>
            <a:off x="616000" y="4443933"/>
            <a:ext cx="4483001" cy="166985"/>
          </a:xfrm>
          <a:prstGeom prst="rect">
            <a:avLst/>
          </a:prstGeom>
          <a:noFill/>
          <a:ln/>
        </p:spPr>
        <p:txBody>
          <a:bodyPr wrap="none" lIns="0" tIns="0" rIns="0" bIns="0" rtlCol="0" anchor="t"/>
          <a:lstStyle/>
          <a:p>
            <a:pPr marL="0" indent="0" algn="l">
              <a:lnSpc>
                <a:spcPct val="121000"/>
              </a:lnSpc>
              <a:buNone/>
            </a:pPr>
            <a:r>
              <a:rPr lang="en-US" sz="900" dirty="0">
                <a:solidFill>
                  <a:srgbClr val="55575A"/>
                </a:solidFill>
                <a:latin typeface="Manrope" pitchFamily="34" charset="0"/>
                <a:ea typeface="Manrope" pitchFamily="34" charset="-122"/>
                <a:cs typeface="Manrope" pitchFamily="34" charset="-120"/>
              </a:rPr>
              <a:t>Without draft handling, accidental data loss and partial commits are common.</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401613"/>
            <a:ext cx="8151763" cy="339179"/>
          </a:xfrm>
          <a:prstGeom prst="rect">
            <a:avLst/>
          </a:prstGeom>
          <a:noFill/>
          <a:ln/>
        </p:spPr>
        <p:txBody>
          <a:bodyPr wrap="none" lIns="0" tIns="0" rIns="0" bIns="0" rtlCol="0" anchor="t"/>
          <a:lstStyle/>
          <a:p>
            <a:pPr marL="0" indent="0" algn="l">
              <a:lnSpc>
                <a:spcPct val="104000"/>
              </a:lnSpc>
              <a:buNone/>
            </a:pPr>
            <a:r>
              <a:rPr lang="en-US" sz="2100" dirty="0">
                <a:solidFill>
                  <a:srgbClr val="0C0D0F"/>
                </a:solidFill>
                <a:latin typeface="Inter" pitchFamily="34" charset="0"/>
                <a:ea typeface="Inter" pitchFamily="34" charset="-122"/>
                <a:cs typeface="Inter" pitchFamily="34" charset="-120"/>
              </a:rPr>
              <a:t>Project Objectives</a:t>
            </a:r>
            <a:endParaRPr lang="en-US" sz="2100" dirty="0"/>
          </a:p>
        </p:txBody>
      </p:sp>
      <p:sp>
        <p:nvSpPr>
          <p:cNvPr id="3" name="Text 1"/>
          <p:cNvSpPr/>
          <p:nvPr/>
        </p:nvSpPr>
        <p:spPr>
          <a:xfrm>
            <a:off x="496119" y="906959"/>
            <a:ext cx="8608963" cy="153293"/>
          </a:xfrm>
          <a:prstGeom prst="rect">
            <a:avLst/>
          </a:prstGeom>
          <a:noFill/>
          <a:ln/>
        </p:spPr>
        <p:txBody>
          <a:bodyPr wrap="none" lIns="0" tIns="0" rIns="0" bIns="0" rtlCol="0" anchor="t"/>
          <a:lstStyle/>
          <a:p>
            <a:pPr marL="0" indent="0" algn="l">
              <a:lnSpc>
                <a:spcPct val="118000"/>
              </a:lnSpc>
              <a:buNone/>
            </a:pPr>
            <a:r>
              <a:rPr lang="en-US" sz="850" dirty="0">
                <a:solidFill>
                  <a:srgbClr val="55575A"/>
                </a:solidFill>
                <a:latin typeface="Manrope" pitchFamily="34" charset="0"/>
                <a:ea typeface="Manrope" pitchFamily="34" charset="-122"/>
                <a:cs typeface="Manrope" pitchFamily="34" charset="-120"/>
              </a:rPr>
              <a:t>The Grocery Management System demonstrates SAP RAP capabilities through a cloud-ready enterprise application on SAP Business Technology Platform.</a:t>
            </a:r>
            <a:endParaRPr lang="en-US" sz="85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1153716"/>
            <a:ext cx="8151763" cy="651197"/>
          </a:xfrm>
          <a:prstGeom prst="rect">
            <a:avLst/>
          </a:prstGeom>
        </p:spPr>
      </p:pic>
      <p:sp>
        <p:nvSpPr>
          <p:cNvPr id="5" name="Text 2"/>
          <p:cNvSpPr/>
          <p:nvPr/>
        </p:nvSpPr>
        <p:spPr>
          <a:xfrm>
            <a:off x="643682" y="1377553"/>
            <a:ext cx="162744" cy="203448"/>
          </a:xfrm>
          <a:prstGeom prst="rect">
            <a:avLst/>
          </a:prstGeom>
          <a:noFill/>
          <a:ln/>
        </p:spPr>
        <p:txBody>
          <a:bodyPr wrap="none" lIns="0" tIns="0" rIns="0" bIns="0" rtlCol="0" anchor="ctr"/>
          <a:lstStyle/>
          <a:p>
            <a:pPr marL="0" indent="0" algn="ctr">
              <a:lnSpc>
                <a:spcPct val="100000"/>
              </a:lnSpc>
              <a:buNone/>
            </a:pPr>
            <a:r>
              <a:rPr lang="en-US" sz="1250" dirty="0">
                <a:solidFill>
                  <a:srgbClr val="55575A"/>
                </a:solidFill>
                <a:latin typeface="Inter" pitchFamily="34" charset="0"/>
                <a:ea typeface="Inter" pitchFamily="34" charset="-122"/>
                <a:cs typeface="Inter" pitchFamily="34" charset="-120"/>
              </a:rPr>
              <a:t>1</a:t>
            </a:r>
            <a:endParaRPr lang="en-US" sz="1250" dirty="0"/>
          </a:p>
        </p:txBody>
      </p:sp>
      <p:sp>
        <p:nvSpPr>
          <p:cNvPr id="6" name="Text 3"/>
          <p:cNvSpPr/>
          <p:nvPr/>
        </p:nvSpPr>
        <p:spPr>
          <a:xfrm>
            <a:off x="1027584" y="1276499"/>
            <a:ext cx="7497514" cy="169515"/>
          </a:xfrm>
          <a:prstGeom prst="rect">
            <a:avLst/>
          </a:prstGeom>
          <a:noFill/>
          <a:ln/>
        </p:spPr>
        <p:txBody>
          <a:bodyPr wrap="none" lIns="0" tIns="0" rIns="0" bIns="0" rtlCol="0" anchor="t"/>
          <a:lstStyle/>
          <a:p>
            <a:pPr marL="0" indent="0" algn="l">
              <a:lnSpc>
                <a:spcPct val="104000"/>
              </a:lnSpc>
              <a:buNone/>
            </a:pPr>
            <a:r>
              <a:rPr lang="en-US" sz="1050" dirty="0">
                <a:solidFill>
                  <a:srgbClr val="55575A"/>
                </a:solidFill>
                <a:latin typeface="Inter" pitchFamily="34" charset="0"/>
                <a:ea typeface="Inter" pitchFamily="34" charset="-122"/>
                <a:cs typeface="Inter" pitchFamily="34" charset="-120"/>
              </a:rPr>
              <a:t>Cloud-Ready SAP Application</a:t>
            </a:r>
            <a:endParaRPr lang="en-US" sz="1050" dirty="0"/>
          </a:p>
        </p:txBody>
      </p:sp>
      <p:sp>
        <p:nvSpPr>
          <p:cNvPr id="7" name="Text 4"/>
          <p:cNvSpPr/>
          <p:nvPr/>
        </p:nvSpPr>
        <p:spPr>
          <a:xfrm>
            <a:off x="1027584" y="1495871"/>
            <a:ext cx="7497514" cy="153293"/>
          </a:xfrm>
          <a:prstGeom prst="rect">
            <a:avLst/>
          </a:prstGeom>
          <a:noFill/>
          <a:ln/>
        </p:spPr>
        <p:txBody>
          <a:bodyPr wrap="none" lIns="0" tIns="0" rIns="0" bIns="0" rtlCol="0" anchor="t"/>
          <a:lstStyle/>
          <a:p>
            <a:pPr marL="0" indent="0" algn="l">
              <a:lnSpc>
                <a:spcPct val="118000"/>
              </a:lnSpc>
              <a:buNone/>
            </a:pPr>
            <a:r>
              <a:rPr lang="en-US" sz="850" dirty="0">
                <a:solidFill>
                  <a:srgbClr val="55575A"/>
                </a:solidFill>
                <a:latin typeface="Manrope" pitchFamily="34" charset="0"/>
                <a:ea typeface="Manrope" pitchFamily="34" charset="-122"/>
                <a:cs typeface="Manrope" pitchFamily="34" charset="-120"/>
              </a:rPr>
              <a:t>Develop using SAP ABAP Cloud and the RESTful ABAP Programming Model.</a:t>
            </a:r>
            <a:endParaRPr lang="en-US" sz="85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1887959"/>
            <a:ext cx="8151763" cy="651197"/>
          </a:xfrm>
          <a:prstGeom prst="rect">
            <a:avLst/>
          </a:prstGeom>
        </p:spPr>
      </p:pic>
      <p:sp>
        <p:nvSpPr>
          <p:cNvPr id="9" name="Text 5"/>
          <p:cNvSpPr/>
          <p:nvPr/>
        </p:nvSpPr>
        <p:spPr>
          <a:xfrm>
            <a:off x="643682" y="2111797"/>
            <a:ext cx="162744" cy="203448"/>
          </a:xfrm>
          <a:prstGeom prst="rect">
            <a:avLst/>
          </a:prstGeom>
          <a:noFill/>
          <a:ln/>
        </p:spPr>
        <p:txBody>
          <a:bodyPr wrap="none" lIns="0" tIns="0" rIns="0" bIns="0" rtlCol="0" anchor="ctr"/>
          <a:lstStyle/>
          <a:p>
            <a:pPr marL="0" indent="0" algn="ctr">
              <a:lnSpc>
                <a:spcPct val="100000"/>
              </a:lnSpc>
              <a:buNone/>
            </a:pPr>
            <a:r>
              <a:rPr lang="en-US" sz="1250" dirty="0">
                <a:solidFill>
                  <a:srgbClr val="55575A"/>
                </a:solidFill>
                <a:latin typeface="Inter" pitchFamily="34" charset="0"/>
                <a:ea typeface="Inter" pitchFamily="34" charset="-122"/>
                <a:cs typeface="Inter" pitchFamily="34" charset="-120"/>
              </a:rPr>
              <a:t>2</a:t>
            </a:r>
            <a:endParaRPr lang="en-US" sz="1250" dirty="0"/>
          </a:p>
        </p:txBody>
      </p:sp>
      <p:sp>
        <p:nvSpPr>
          <p:cNvPr id="10" name="Text 6"/>
          <p:cNvSpPr/>
          <p:nvPr/>
        </p:nvSpPr>
        <p:spPr>
          <a:xfrm>
            <a:off x="1027584" y="2010742"/>
            <a:ext cx="7497514" cy="169515"/>
          </a:xfrm>
          <a:prstGeom prst="rect">
            <a:avLst/>
          </a:prstGeom>
          <a:noFill/>
          <a:ln/>
        </p:spPr>
        <p:txBody>
          <a:bodyPr wrap="none" lIns="0" tIns="0" rIns="0" bIns="0" rtlCol="0" anchor="t"/>
          <a:lstStyle/>
          <a:p>
            <a:pPr marL="0" indent="0" algn="l">
              <a:lnSpc>
                <a:spcPct val="104000"/>
              </a:lnSpc>
              <a:buNone/>
            </a:pPr>
            <a:r>
              <a:rPr lang="en-US" sz="1050" dirty="0">
                <a:solidFill>
                  <a:srgbClr val="55575A"/>
                </a:solidFill>
                <a:latin typeface="Inter" pitchFamily="34" charset="0"/>
                <a:ea typeface="Inter" pitchFamily="34" charset="-122"/>
                <a:cs typeface="Inter" pitchFamily="34" charset="-120"/>
              </a:rPr>
              <a:t>Complete CRUD Operations</a:t>
            </a:r>
            <a:endParaRPr lang="en-US" sz="1050" dirty="0"/>
          </a:p>
        </p:txBody>
      </p:sp>
      <p:sp>
        <p:nvSpPr>
          <p:cNvPr id="11" name="Text 7"/>
          <p:cNvSpPr/>
          <p:nvPr/>
        </p:nvSpPr>
        <p:spPr>
          <a:xfrm>
            <a:off x="1027584" y="2230115"/>
            <a:ext cx="7497514" cy="153293"/>
          </a:xfrm>
          <a:prstGeom prst="rect">
            <a:avLst/>
          </a:prstGeom>
          <a:noFill/>
          <a:ln/>
        </p:spPr>
        <p:txBody>
          <a:bodyPr wrap="none" lIns="0" tIns="0" rIns="0" bIns="0" rtlCol="0" anchor="t"/>
          <a:lstStyle/>
          <a:p>
            <a:pPr marL="0" indent="0" algn="l">
              <a:lnSpc>
                <a:spcPct val="118000"/>
              </a:lnSpc>
              <a:buNone/>
            </a:pPr>
            <a:r>
              <a:rPr lang="en-US" sz="850" dirty="0">
                <a:solidFill>
                  <a:srgbClr val="55575A"/>
                </a:solidFill>
                <a:latin typeface="Manrope" pitchFamily="34" charset="0"/>
                <a:ea typeface="Manrope" pitchFamily="34" charset="-122"/>
                <a:cs typeface="Manrope" pitchFamily="34" charset="-120"/>
              </a:rPr>
              <a:t>Implement Create, Read, Update, and Delete for all product records.</a:t>
            </a:r>
            <a:endParaRPr lang="en-US" sz="850"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2622203"/>
            <a:ext cx="8151763" cy="651197"/>
          </a:xfrm>
          <a:prstGeom prst="rect">
            <a:avLst/>
          </a:prstGeom>
        </p:spPr>
      </p:pic>
      <p:sp>
        <p:nvSpPr>
          <p:cNvPr id="13" name="Text 8"/>
          <p:cNvSpPr/>
          <p:nvPr/>
        </p:nvSpPr>
        <p:spPr>
          <a:xfrm>
            <a:off x="643682" y="2846040"/>
            <a:ext cx="162744" cy="203448"/>
          </a:xfrm>
          <a:prstGeom prst="rect">
            <a:avLst/>
          </a:prstGeom>
          <a:noFill/>
          <a:ln/>
        </p:spPr>
        <p:txBody>
          <a:bodyPr wrap="none" lIns="0" tIns="0" rIns="0" bIns="0" rtlCol="0" anchor="ctr"/>
          <a:lstStyle/>
          <a:p>
            <a:pPr marL="0" indent="0" algn="ctr">
              <a:lnSpc>
                <a:spcPct val="100000"/>
              </a:lnSpc>
              <a:buNone/>
            </a:pPr>
            <a:r>
              <a:rPr lang="en-US" sz="1250" dirty="0">
                <a:solidFill>
                  <a:srgbClr val="55575A"/>
                </a:solidFill>
                <a:latin typeface="Inter" pitchFamily="34" charset="0"/>
                <a:ea typeface="Inter" pitchFamily="34" charset="-122"/>
                <a:cs typeface="Inter" pitchFamily="34" charset="-120"/>
              </a:rPr>
              <a:t>3</a:t>
            </a:r>
            <a:endParaRPr lang="en-US" sz="1250" dirty="0"/>
          </a:p>
        </p:txBody>
      </p:sp>
      <p:sp>
        <p:nvSpPr>
          <p:cNvPr id="14" name="Text 9"/>
          <p:cNvSpPr/>
          <p:nvPr/>
        </p:nvSpPr>
        <p:spPr>
          <a:xfrm>
            <a:off x="1027584" y="2744986"/>
            <a:ext cx="7497514" cy="169515"/>
          </a:xfrm>
          <a:prstGeom prst="rect">
            <a:avLst/>
          </a:prstGeom>
          <a:noFill/>
          <a:ln/>
        </p:spPr>
        <p:txBody>
          <a:bodyPr wrap="none" lIns="0" tIns="0" rIns="0" bIns="0" rtlCol="0" anchor="t"/>
          <a:lstStyle/>
          <a:p>
            <a:pPr marL="0" indent="0" algn="l">
              <a:lnSpc>
                <a:spcPct val="104000"/>
              </a:lnSpc>
              <a:buNone/>
            </a:pPr>
            <a:r>
              <a:rPr lang="en-US" sz="1050" dirty="0">
                <a:solidFill>
                  <a:srgbClr val="55575A"/>
                </a:solidFill>
                <a:latin typeface="Inter" pitchFamily="34" charset="0"/>
                <a:ea typeface="Inter" pitchFamily="34" charset="-122"/>
                <a:cs typeface="Inter" pitchFamily="34" charset="-120"/>
              </a:rPr>
              <a:t>Draft Functionality</a:t>
            </a:r>
            <a:endParaRPr lang="en-US" sz="1050" dirty="0"/>
          </a:p>
        </p:txBody>
      </p:sp>
      <p:sp>
        <p:nvSpPr>
          <p:cNvPr id="15" name="Text 10"/>
          <p:cNvSpPr/>
          <p:nvPr/>
        </p:nvSpPr>
        <p:spPr>
          <a:xfrm>
            <a:off x="1027584" y="2964359"/>
            <a:ext cx="7497514" cy="153293"/>
          </a:xfrm>
          <a:prstGeom prst="rect">
            <a:avLst/>
          </a:prstGeom>
          <a:noFill/>
          <a:ln/>
        </p:spPr>
        <p:txBody>
          <a:bodyPr wrap="none" lIns="0" tIns="0" rIns="0" bIns="0" rtlCol="0" anchor="t"/>
          <a:lstStyle/>
          <a:p>
            <a:pPr marL="0" indent="0" algn="l">
              <a:lnSpc>
                <a:spcPct val="118000"/>
              </a:lnSpc>
              <a:buNone/>
            </a:pPr>
            <a:r>
              <a:rPr lang="en-US" sz="850" dirty="0">
                <a:solidFill>
                  <a:srgbClr val="55575A"/>
                </a:solidFill>
                <a:latin typeface="Manrope" pitchFamily="34" charset="0"/>
                <a:ea typeface="Manrope" pitchFamily="34" charset="-122"/>
                <a:cs typeface="Manrope" pitchFamily="34" charset="-120"/>
              </a:rPr>
              <a:t>Enable save-as-draft to prevent accidental data loss before activation.</a:t>
            </a:r>
            <a:endParaRPr lang="en-US" sz="850" dirty="0"/>
          </a:p>
        </p:txBody>
      </p:sp>
      <p:pic>
        <p:nvPicPr>
          <p:cNvPr id="16"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3356446"/>
            <a:ext cx="8151763" cy="651197"/>
          </a:xfrm>
          <a:prstGeom prst="rect">
            <a:avLst/>
          </a:prstGeom>
        </p:spPr>
      </p:pic>
      <p:sp>
        <p:nvSpPr>
          <p:cNvPr id="17" name="Text 11"/>
          <p:cNvSpPr/>
          <p:nvPr/>
        </p:nvSpPr>
        <p:spPr>
          <a:xfrm>
            <a:off x="643682" y="3580284"/>
            <a:ext cx="162744" cy="203448"/>
          </a:xfrm>
          <a:prstGeom prst="rect">
            <a:avLst/>
          </a:prstGeom>
          <a:noFill/>
          <a:ln/>
        </p:spPr>
        <p:txBody>
          <a:bodyPr wrap="none" lIns="0" tIns="0" rIns="0" bIns="0" rtlCol="0" anchor="ctr"/>
          <a:lstStyle/>
          <a:p>
            <a:pPr marL="0" indent="0" algn="ctr">
              <a:lnSpc>
                <a:spcPct val="100000"/>
              </a:lnSpc>
              <a:buNone/>
            </a:pPr>
            <a:r>
              <a:rPr lang="en-US" sz="1250" dirty="0">
                <a:solidFill>
                  <a:srgbClr val="55575A"/>
                </a:solidFill>
                <a:latin typeface="Inter" pitchFamily="34" charset="0"/>
                <a:ea typeface="Inter" pitchFamily="34" charset="-122"/>
                <a:cs typeface="Inter" pitchFamily="34" charset="-120"/>
              </a:rPr>
              <a:t>4</a:t>
            </a:r>
            <a:endParaRPr lang="en-US" sz="1250" dirty="0"/>
          </a:p>
        </p:txBody>
      </p:sp>
      <p:sp>
        <p:nvSpPr>
          <p:cNvPr id="18" name="Text 12"/>
          <p:cNvSpPr/>
          <p:nvPr/>
        </p:nvSpPr>
        <p:spPr>
          <a:xfrm>
            <a:off x="1027584" y="3479229"/>
            <a:ext cx="7497514" cy="169515"/>
          </a:xfrm>
          <a:prstGeom prst="rect">
            <a:avLst/>
          </a:prstGeom>
          <a:noFill/>
          <a:ln/>
        </p:spPr>
        <p:txBody>
          <a:bodyPr wrap="none" lIns="0" tIns="0" rIns="0" bIns="0" rtlCol="0" anchor="t"/>
          <a:lstStyle/>
          <a:p>
            <a:pPr marL="0" indent="0" algn="l">
              <a:lnSpc>
                <a:spcPct val="104000"/>
              </a:lnSpc>
              <a:buNone/>
            </a:pPr>
            <a:r>
              <a:rPr lang="en-US" sz="1050" dirty="0">
                <a:solidFill>
                  <a:srgbClr val="55575A"/>
                </a:solidFill>
                <a:latin typeface="Inter" pitchFamily="34" charset="0"/>
                <a:ea typeface="Inter" pitchFamily="34" charset="-122"/>
                <a:cs typeface="Inter" pitchFamily="34" charset="-120"/>
              </a:rPr>
              <a:t>Business Validations</a:t>
            </a:r>
            <a:endParaRPr lang="en-US" sz="1050" dirty="0"/>
          </a:p>
        </p:txBody>
      </p:sp>
      <p:sp>
        <p:nvSpPr>
          <p:cNvPr id="19" name="Text 13"/>
          <p:cNvSpPr/>
          <p:nvPr/>
        </p:nvSpPr>
        <p:spPr>
          <a:xfrm>
            <a:off x="1027584" y="3698602"/>
            <a:ext cx="7497514" cy="153293"/>
          </a:xfrm>
          <a:prstGeom prst="rect">
            <a:avLst/>
          </a:prstGeom>
          <a:noFill/>
          <a:ln/>
        </p:spPr>
        <p:txBody>
          <a:bodyPr wrap="none" lIns="0" tIns="0" rIns="0" bIns="0" rtlCol="0" anchor="t"/>
          <a:lstStyle/>
          <a:p>
            <a:pPr marL="0" indent="0" algn="l">
              <a:lnSpc>
                <a:spcPct val="118000"/>
              </a:lnSpc>
              <a:buNone/>
            </a:pPr>
            <a:r>
              <a:rPr lang="en-US" sz="850" dirty="0">
                <a:solidFill>
                  <a:srgbClr val="55575A"/>
                </a:solidFill>
                <a:latin typeface="Manrope" pitchFamily="34" charset="0"/>
                <a:ea typeface="Manrope" pitchFamily="34" charset="-122"/>
                <a:cs typeface="Manrope" pitchFamily="34" charset="-120"/>
              </a:rPr>
              <a:t>Enforce mandatory fields, semantic key checks, and price rules via RAP Behavior.</a:t>
            </a:r>
            <a:endParaRPr lang="en-US" sz="850" dirty="0"/>
          </a:p>
        </p:txBody>
      </p:sp>
      <p:pic>
        <p:nvPicPr>
          <p:cNvPr id="20"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4090690"/>
            <a:ext cx="8151763" cy="651197"/>
          </a:xfrm>
          <a:prstGeom prst="rect">
            <a:avLst/>
          </a:prstGeom>
        </p:spPr>
      </p:pic>
      <p:sp>
        <p:nvSpPr>
          <p:cNvPr id="21" name="Text 14"/>
          <p:cNvSpPr/>
          <p:nvPr/>
        </p:nvSpPr>
        <p:spPr>
          <a:xfrm>
            <a:off x="643682" y="4314527"/>
            <a:ext cx="162744" cy="203448"/>
          </a:xfrm>
          <a:prstGeom prst="rect">
            <a:avLst/>
          </a:prstGeom>
          <a:noFill/>
          <a:ln/>
        </p:spPr>
        <p:txBody>
          <a:bodyPr wrap="none" lIns="0" tIns="0" rIns="0" bIns="0" rtlCol="0" anchor="ctr"/>
          <a:lstStyle/>
          <a:p>
            <a:pPr marL="0" indent="0" algn="ctr">
              <a:lnSpc>
                <a:spcPct val="100000"/>
              </a:lnSpc>
              <a:buNone/>
            </a:pPr>
            <a:r>
              <a:rPr lang="en-US" sz="1250" dirty="0">
                <a:solidFill>
                  <a:srgbClr val="55575A"/>
                </a:solidFill>
                <a:latin typeface="Inter" pitchFamily="34" charset="0"/>
                <a:ea typeface="Inter" pitchFamily="34" charset="-122"/>
                <a:cs typeface="Inter" pitchFamily="34" charset="-120"/>
              </a:rPr>
              <a:t>5</a:t>
            </a:r>
            <a:endParaRPr lang="en-US" sz="1250" dirty="0"/>
          </a:p>
        </p:txBody>
      </p:sp>
      <p:sp>
        <p:nvSpPr>
          <p:cNvPr id="22" name="Text 15"/>
          <p:cNvSpPr/>
          <p:nvPr/>
        </p:nvSpPr>
        <p:spPr>
          <a:xfrm>
            <a:off x="1027584" y="4213473"/>
            <a:ext cx="7497514" cy="169515"/>
          </a:xfrm>
          <a:prstGeom prst="rect">
            <a:avLst/>
          </a:prstGeom>
          <a:noFill/>
          <a:ln/>
        </p:spPr>
        <p:txBody>
          <a:bodyPr wrap="none" lIns="0" tIns="0" rIns="0" bIns="0" rtlCol="0" anchor="t"/>
          <a:lstStyle/>
          <a:p>
            <a:pPr marL="0" indent="0" algn="l">
              <a:lnSpc>
                <a:spcPct val="104000"/>
              </a:lnSpc>
              <a:buNone/>
            </a:pPr>
            <a:r>
              <a:rPr lang="en-US" sz="1050" dirty="0">
                <a:solidFill>
                  <a:srgbClr val="55575A"/>
                </a:solidFill>
                <a:latin typeface="Inter" pitchFamily="34" charset="0"/>
                <a:ea typeface="Inter" pitchFamily="34" charset="-122"/>
                <a:cs typeface="Inter" pitchFamily="34" charset="-120"/>
              </a:rPr>
              <a:t>Fiori Elements UI</a:t>
            </a:r>
            <a:endParaRPr lang="en-US" sz="1050" dirty="0"/>
          </a:p>
        </p:txBody>
      </p:sp>
      <p:sp>
        <p:nvSpPr>
          <p:cNvPr id="23" name="Text 16"/>
          <p:cNvSpPr/>
          <p:nvPr/>
        </p:nvSpPr>
        <p:spPr>
          <a:xfrm>
            <a:off x="1027584" y="4432846"/>
            <a:ext cx="7497514" cy="153293"/>
          </a:xfrm>
          <a:prstGeom prst="rect">
            <a:avLst/>
          </a:prstGeom>
          <a:noFill/>
          <a:ln/>
        </p:spPr>
        <p:txBody>
          <a:bodyPr wrap="none" lIns="0" tIns="0" rIns="0" bIns="0" rtlCol="0" anchor="t"/>
          <a:lstStyle/>
          <a:p>
            <a:pPr marL="0" indent="0" algn="l">
              <a:lnSpc>
                <a:spcPct val="118000"/>
              </a:lnSpc>
              <a:buNone/>
            </a:pPr>
            <a:r>
              <a:rPr lang="en-US" sz="850" dirty="0">
                <a:solidFill>
                  <a:srgbClr val="55575A"/>
                </a:solidFill>
                <a:latin typeface="Manrope" pitchFamily="34" charset="0"/>
                <a:ea typeface="Manrope" pitchFamily="34" charset="-122"/>
                <a:cs typeface="Manrope" pitchFamily="34" charset="-120"/>
              </a:rPr>
              <a:t>Expose data via OData V4 with a responsive SAP Fiori Elements interface.</a:t>
            </a:r>
            <a:endParaRPr lang="en-US" sz="850" dirty="0"/>
          </a:p>
        </p:txBody>
      </p:sp>
      <mc:AlternateContent xmlns:mc="http://schemas.openxmlformats.org/markup-compatibility/2006">
        <mc:Choice xmlns:p14="http://schemas.microsoft.com/office/powerpoint/2010/main" Requires="p14">
          <p:contentPart p14:bwMode="auto" r:id="rId4">
            <p14:nvContentPartPr>
              <p14:cNvPr id="25" name="Ink 24">
                <a:extLst>
                  <a:ext uri="{FF2B5EF4-FFF2-40B4-BE49-F238E27FC236}">
                    <a16:creationId xmlns:a16="http://schemas.microsoft.com/office/drawing/2014/main" id="{9AC4332C-B2F8-FFF7-C1C1-A39C0A6AB388}"/>
                  </a:ext>
                </a:extLst>
              </p14:cNvPr>
              <p14:cNvContentPartPr/>
              <p14:nvPr/>
            </p14:nvContentPartPr>
            <p14:xfrm>
              <a:off x="7967046" y="4927486"/>
              <a:ext cx="1066320" cy="126720"/>
            </p14:xfrm>
          </p:contentPart>
        </mc:Choice>
        <mc:Fallback>
          <p:pic>
            <p:nvPicPr>
              <p:cNvPr id="25" name="Ink 24">
                <a:extLst>
                  <a:ext uri="{FF2B5EF4-FFF2-40B4-BE49-F238E27FC236}">
                    <a16:creationId xmlns:a16="http://schemas.microsoft.com/office/drawing/2014/main" id="{9AC4332C-B2F8-FFF7-C1C1-A39C0A6AB388}"/>
                  </a:ext>
                </a:extLst>
              </p:cNvPr>
              <p:cNvPicPr/>
              <p:nvPr/>
            </p:nvPicPr>
            <p:blipFill>
              <a:blip r:embed="rId5"/>
              <a:stretch>
                <a:fillRect/>
              </a:stretch>
            </p:blipFill>
            <p:spPr>
              <a:xfrm>
                <a:off x="7904406" y="4864846"/>
                <a:ext cx="1191960" cy="252360"/>
              </a:xfrm>
              <a:prstGeom prst="rect">
                <a:avLst/>
              </a:prstGeom>
            </p:spPr>
          </p:pic>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389855"/>
            <a:ext cx="8151763" cy="221456"/>
          </a:xfrm>
          <a:prstGeom prst="rect">
            <a:avLst/>
          </a:prstGeom>
          <a:noFill/>
          <a:ln/>
        </p:spPr>
        <p:txBody>
          <a:bodyPr wrap="none" lIns="0" tIns="0" rIns="0" bIns="0" rtlCol="0" anchor="t"/>
          <a:lstStyle/>
          <a:p>
            <a:pPr marL="0" indent="0" algn="l">
              <a:lnSpc>
                <a:spcPct val="104000"/>
              </a:lnSpc>
              <a:buNone/>
            </a:pPr>
            <a:r>
              <a:rPr lang="en-US" sz="1350" dirty="0">
                <a:solidFill>
                  <a:srgbClr val="0C0D0F"/>
                </a:solidFill>
                <a:latin typeface="Inter" pitchFamily="34" charset="0"/>
                <a:ea typeface="Inter" pitchFamily="34" charset="-122"/>
                <a:cs typeface="Inter" pitchFamily="34" charset="-120"/>
              </a:rPr>
              <a:t>System Architecture</a:t>
            </a:r>
            <a:endParaRPr lang="en-US" sz="1350" dirty="0"/>
          </a:p>
        </p:txBody>
      </p:sp>
      <p:sp>
        <p:nvSpPr>
          <p:cNvPr id="3" name="Text 1"/>
          <p:cNvSpPr/>
          <p:nvPr/>
        </p:nvSpPr>
        <p:spPr>
          <a:xfrm>
            <a:off x="496119" y="2613868"/>
            <a:ext cx="3989412" cy="170111"/>
          </a:xfrm>
          <a:prstGeom prst="rect">
            <a:avLst/>
          </a:prstGeom>
          <a:noFill/>
          <a:ln/>
        </p:spPr>
        <p:txBody>
          <a:bodyPr wrap="square" lIns="0" tIns="0" rIns="0" bIns="0" rtlCol="0" anchor="t">
            <a:normAutofit/>
          </a:bodyPr>
          <a:lstStyle/>
          <a:p>
            <a:pPr marL="0" indent="0" algn="l">
              <a:lnSpc>
                <a:spcPct val="100000"/>
              </a:lnSpc>
              <a:buNone/>
            </a:pPr>
            <a:r>
              <a:rPr lang="en-US" sz="550" dirty="0">
                <a:solidFill>
                  <a:srgbClr val="55575A"/>
                </a:solidFill>
                <a:latin typeface="Manrope" pitchFamily="34" charset="0"/>
                <a:ea typeface="Manrope" pitchFamily="34" charset="-122"/>
                <a:cs typeface="Manrope" pitchFamily="34" charset="-120"/>
              </a:rPr>
              <a:t>The application follows SAP RAP's layered architecture. All user requests pass through the RAP Business Object — ensuring validations, determinations, and transactional consistency before any data reaches SAP HANA.</a:t>
            </a:r>
            <a:endParaRPr lang="en-US" sz="550" dirty="0"/>
          </a:p>
        </p:txBody>
      </p:sp>
      <p:pic>
        <p:nvPicPr>
          <p:cNvPr id="4" name="Image 0" descr="preencoded.png"/>
          <p:cNvPicPr>
            <a:picLocks noChangeAspect="1"/>
          </p:cNvPicPr>
          <p:nvPr/>
        </p:nvPicPr>
        <p:blipFill>
          <a:blip r:embed="rId3"/>
          <a:stretch>
            <a:fillRect/>
          </a:stretch>
        </p:blipFill>
        <p:spPr>
          <a:xfrm>
            <a:off x="4663232" y="704255"/>
            <a:ext cx="3989412" cy="3989412"/>
          </a:xfrm>
          <a:prstGeom prst="rect">
            <a:avLst/>
          </a:prstGeom>
        </p:spPr>
      </p:pic>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86594" y="4763765"/>
            <a:ext cx="2014240" cy="321097"/>
          </a:xfrm>
          <a:prstGeom prst="rect">
            <a:avLst/>
          </a:prstGeom>
        </p:spPr>
      </p:pic>
      <p:sp>
        <p:nvSpPr>
          <p:cNvPr id="6" name="Text 2"/>
          <p:cNvSpPr/>
          <p:nvPr/>
        </p:nvSpPr>
        <p:spPr>
          <a:xfrm>
            <a:off x="586011" y="4773290"/>
            <a:ext cx="1914823" cy="110728"/>
          </a:xfrm>
          <a:prstGeom prst="rect">
            <a:avLst/>
          </a:prstGeom>
          <a:noFill/>
          <a:ln/>
        </p:spPr>
        <p:txBody>
          <a:bodyPr wrap="none" lIns="0" tIns="0" rIns="0" bIns="0" rtlCol="0" anchor="t"/>
          <a:lstStyle/>
          <a:p>
            <a:pPr marL="0" indent="0" algn="l">
              <a:lnSpc>
                <a:spcPct val="104000"/>
              </a:lnSpc>
              <a:buNone/>
            </a:pPr>
            <a:r>
              <a:rPr lang="en-US" sz="650" dirty="0">
                <a:solidFill>
                  <a:srgbClr val="55575A"/>
                </a:solidFill>
                <a:latin typeface="Inter" pitchFamily="34" charset="0"/>
                <a:ea typeface="Inter" pitchFamily="34" charset="-122"/>
                <a:cs typeface="Inter" pitchFamily="34" charset="-120"/>
              </a:rPr>
              <a:t>SAP Fiori Elements</a:t>
            </a:r>
            <a:endParaRPr lang="en-US" sz="650" dirty="0"/>
          </a:p>
        </p:txBody>
      </p:sp>
      <p:sp>
        <p:nvSpPr>
          <p:cNvPr id="7" name="Text 3"/>
          <p:cNvSpPr/>
          <p:nvPr/>
        </p:nvSpPr>
        <p:spPr>
          <a:xfrm>
            <a:off x="586011" y="4905226"/>
            <a:ext cx="1914823" cy="85055"/>
          </a:xfrm>
          <a:prstGeom prst="rect">
            <a:avLst/>
          </a:prstGeom>
          <a:noFill/>
          <a:ln/>
        </p:spPr>
        <p:txBody>
          <a:bodyPr wrap="none" lIns="0" tIns="0" rIns="0" bIns="0" rtlCol="0" anchor="t"/>
          <a:lstStyle/>
          <a:p>
            <a:pPr marL="0" indent="0" algn="l">
              <a:lnSpc>
                <a:spcPct val="100000"/>
              </a:lnSpc>
              <a:buNone/>
            </a:pPr>
            <a:r>
              <a:rPr lang="en-US" sz="550" dirty="0">
                <a:solidFill>
                  <a:srgbClr val="55575A"/>
                </a:solidFill>
                <a:latin typeface="Manrope" pitchFamily="34" charset="0"/>
                <a:ea typeface="Manrope" pitchFamily="34" charset="-122"/>
                <a:cs typeface="Manrope" pitchFamily="34" charset="-120"/>
              </a:rPr>
              <a:t>Responsive UI auto-generated from OData metadata.</a:t>
            </a:r>
            <a:endParaRPr lang="en-US" sz="550" dirty="0"/>
          </a:p>
        </p:txBody>
      </p:sp>
      <p:pic>
        <p:nvPicPr>
          <p:cNvPr id="8"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35585" y="4763765"/>
            <a:ext cx="2014240" cy="321097"/>
          </a:xfrm>
          <a:prstGeom prst="rect">
            <a:avLst/>
          </a:prstGeom>
        </p:spPr>
      </p:pic>
      <p:sp>
        <p:nvSpPr>
          <p:cNvPr id="9" name="Text 4"/>
          <p:cNvSpPr/>
          <p:nvPr/>
        </p:nvSpPr>
        <p:spPr>
          <a:xfrm>
            <a:off x="2635002" y="4773290"/>
            <a:ext cx="1914823" cy="110728"/>
          </a:xfrm>
          <a:prstGeom prst="rect">
            <a:avLst/>
          </a:prstGeom>
          <a:noFill/>
          <a:ln/>
        </p:spPr>
        <p:txBody>
          <a:bodyPr wrap="none" lIns="0" tIns="0" rIns="0" bIns="0" rtlCol="0" anchor="t"/>
          <a:lstStyle/>
          <a:p>
            <a:pPr marL="0" indent="0" algn="l">
              <a:lnSpc>
                <a:spcPct val="104000"/>
              </a:lnSpc>
              <a:buNone/>
            </a:pPr>
            <a:r>
              <a:rPr lang="en-US" sz="650" dirty="0">
                <a:solidFill>
                  <a:srgbClr val="55575A"/>
                </a:solidFill>
                <a:latin typeface="Inter" pitchFamily="34" charset="0"/>
                <a:ea typeface="Inter" pitchFamily="34" charset="-122"/>
                <a:cs typeface="Inter" pitchFamily="34" charset="-120"/>
              </a:rPr>
              <a:t>OData V4 Service</a:t>
            </a:r>
            <a:endParaRPr lang="en-US" sz="650" dirty="0"/>
          </a:p>
        </p:txBody>
      </p:sp>
      <p:sp>
        <p:nvSpPr>
          <p:cNvPr id="10" name="Text 5"/>
          <p:cNvSpPr/>
          <p:nvPr/>
        </p:nvSpPr>
        <p:spPr>
          <a:xfrm>
            <a:off x="2635002" y="4905226"/>
            <a:ext cx="1914823" cy="85055"/>
          </a:xfrm>
          <a:prstGeom prst="rect">
            <a:avLst/>
          </a:prstGeom>
          <a:noFill/>
          <a:ln/>
        </p:spPr>
        <p:txBody>
          <a:bodyPr wrap="none" lIns="0" tIns="0" rIns="0" bIns="0" rtlCol="0" anchor="t"/>
          <a:lstStyle/>
          <a:p>
            <a:pPr marL="0" indent="0" algn="l">
              <a:lnSpc>
                <a:spcPct val="100000"/>
              </a:lnSpc>
              <a:buNone/>
            </a:pPr>
            <a:r>
              <a:rPr lang="en-US" sz="550" dirty="0">
                <a:solidFill>
                  <a:srgbClr val="55575A"/>
                </a:solidFill>
                <a:latin typeface="Manrope" pitchFamily="34" charset="0"/>
                <a:ea typeface="Manrope" pitchFamily="34" charset="-122"/>
                <a:cs typeface="Manrope" pitchFamily="34" charset="-120"/>
              </a:rPr>
              <a:t>Communication layer between frontend and backend.</a:t>
            </a:r>
            <a:endParaRPr lang="en-US" sz="550" dirty="0"/>
          </a:p>
        </p:txBody>
      </p:sp>
      <p:pic>
        <p:nvPicPr>
          <p:cNvPr id="11"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84576" y="4763765"/>
            <a:ext cx="2014240" cy="321097"/>
          </a:xfrm>
          <a:prstGeom prst="rect">
            <a:avLst/>
          </a:prstGeom>
        </p:spPr>
      </p:pic>
      <p:sp>
        <p:nvSpPr>
          <p:cNvPr id="12" name="Text 6"/>
          <p:cNvSpPr/>
          <p:nvPr/>
        </p:nvSpPr>
        <p:spPr>
          <a:xfrm>
            <a:off x="4683993" y="4773290"/>
            <a:ext cx="1914823" cy="110728"/>
          </a:xfrm>
          <a:prstGeom prst="rect">
            <a:avLst/>
          </a:prstGeom>
          <a:noFill/>
          <a:ln/>
        </p:spPr>
        <p:txBody>
          <a:bodyPr wrap="none" lIns="0" tIns="0" rIns="0" bIns="0" rtlCol="0" anchor="t"/>
          <a:lstStyle/>
          <a:p>
            <a:pPr marL="0" indent="0" algn="l">
              <a:lnSpc>
                <a:spcPct val="104000"/>
              </a:lnSpc>
              <a:buNone/>
            </a:pPr>
            <a:r>
              <a:rPr lang="en-US" sz="650" dirty="0">
                <a:solidFill>
                  <a:srgbClr val="55575A"/>
                </a:solidFill>
                <a:latin typeface="Inter" pitchFamily="34" charset="0"/>
                <a:ea typeface="Inter" pitchFamily="34" charset="-122"/>
                <a:cs typeface="Inter" pitchFamily="34" charset="-120"/>
              </a:rPr>
              <a:t>RAP Business Object</a:t>
            </a:r>
            <a:endParaRPr lang="en-US" sz="650" dirty="0"/>
          </a:p>
        </p:txBody>
      </p:sp>
      <p:sp>
        <p:nvSpPr>
          <p:cNvPr id="13" name="Text 7"/>
          <p:cNvSpPr/>
          <p:nvPr/>
        </p:nvSpPr>
        <p:spPr>
          <a:xfrm>
            <a:off x="4683993" y="4905226"/>
            <a:ext cx="1914823" cy="170111"/>
          </a:xfrm>
          <a:prstGeom prst="rect">
            <a:avLst/>
          </a:prstGeom>
          <a:noFill/>
          <a:ln/>
        </p:spPr>
        <p:txBody>
          <a:bodyPr wrap="square" lIns="0" tIns="0" rIns="0" bIns="0" rtlCol="0" anchor="t">
            <a:normAutofit/>
          </a:bodyPr>
          <a:lstStyle/>
          <a:p>
            <a:pPr marL="0" indent="0" algn="l">
              <a:lnSpc>
                <a:spcPct val="100000"/>
              </a:lnSpc>
              <a:buNone/>
            </a:pPr>
            <a:r>
              <a:rPr lang="en-US" sz="550" dirty="0">
                <a:solidFill>
                  <a:srgbClr val="55575A"/>
                </a:solidFill>
                <a:latin typeface="Manrope" pitchFamily="34" charset="0"/>
                <a:ea typeface="Manrope" pitchFamily="34" charset="-122"/>
                <a:cs typeface="Manrope" pitchFamily="34" charset="-120"/>
              </a:rPr>
              <a:t>Core logic: CRUD, validations, determinations, draft control.</a:t>
            </a:r>
            <a:endParaRPr lang="en-US" sz="550" dirty="0"/>
          </a:p>
        </p:txBody>
      </p:sp>
      <p:pic>
        <p:nvPicPr>
          <p:cNvPr id="14"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33567" y="4763765"/>
            <a:ext cx="2014314" cy="321097"/>
          </a:xfrm>
          <a:prstGeom prst="rect">
            <a:avLst/>
          </a:prstGeom>
        </p:spPr>
      </p:pic>
      <p:sp>
        <p:nvSpPr>
          <p:cNvPr id="15" name="Text 8"/>
          <p:cNvSpPr/>
          <p:nvPr/>
        </p:nvSpPr>
        <p:spPr>
          <a:xfrm>
            <a:off x="6732984" y="4773290"/>
            <a:ext cx="1914897" cy="110728"/>
          </a:xfrm>
          <a:prstGeom prst="rect">
            <a:avLst/>
          </a:prstGeom>
          <a:noFill/>
          <a:ln/>
        </p:spPr>
        <p:txBody>
          <a:bodyPr wrap="none" lIns="0" tIns="0" rIns="0" bIns="0" rtlCol="0" anchor="t"/>
          <a:lstStyle/>
          <a:p>
            <a:pPr marL="0" indent="0" algn="l">
              <a:lnSpc>
                <a:spcPct val="104000"/>
              </a:lnSpc>
              <a:buNone/>
            </a:pPr>
            <a:r>
              <a:rPr lang="en-US" sz="650" dirty="0">
                <a:solidFill>
                  <a:srgbClr val="55575A"/>
                </a:solidFill>
                <a:latin typeface="Inter" pitchFamily="34" charset="0"/>
                <a:ea typeface="Inter" pitchFamily="34" charset="-122"/>
                <a:cs typeface="Inter" pitchFamily="34" charset="-120"/>
              </a:rPr>
              <a:t>CDS View Entities</a:t>
            </a:r>
            <a:endParaRPr lang="en-US" sz="650" dirty="0"/>
          </a:p>
        </p:txBody>
      </p:sp>
      <p:sp>
        <p:nvSpPr>
          <p:cNvPr id="16" name="Text 9"/>
          <p:cNvSpPr/>
          <p:nvPr/>
        </p:nvSpPr>
        <p:spPr>
          <a:xfrm>
            <a:off x="6732984" y="4905226"/>
            <a:ext cx="1914897" cy="85055"/>
          </a:xfrm>
          <a:prstGeom prst="rect">
            <a:avLst/>
          </a:prstGeom>
          <a:noFill/>
          <a:ln/>
        </p:spPr>
        <p:txBody>
          <a:bodyPr wrap="none" lIns="0" tIns="0" rIns="0" bIns="0" rtlCol="0" anchor="t"/>
          <a:lstStyle/>
          <a:p>
            <a:pPr marL="0" indent="0" algn="l">
              <a:lnSpc>
                <a:spcPct val="100000"/>
              </a:lnSpc>
              <a:buNone/>
            </a:pPr>
            <a:r>
              <a:rPr lang="en-US" sz="550" dirty="0">
                <a:solidFill>
                  <a:srgbClr val="55575A"/>
                </a:solidFill>
                <a:latin typeface="Manrope" pitchFamily="34" charset="0"/>
                <a:ea typeface="Manrope" pitchFamily="34" charset="-122"/>
                <a:cs typeface="Manrope" pitchFamily="34" charset="-120"/>
              </a:rPr>
              <a:t>Structured data model with UI annotations.</a:t>
            </a:r>
            <a:endParaRPr lang="en-US" sz="550" dirty="0"/>
          </a:p>
        </p:txBody>
      </p:sp>
      <p:pic>
        <p:nvPicPr>
          <p:cNvPr id="17" name="Image 5"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86594" y="5136654"/>
            <a:ext cx="8161288" cy="236041"/>
          </a:xfrm>
          <a:prstGeom prst="rect">
            <a:avLst/>
          </a:prstGeom>
        </p:spPr>
      </p:pic>
      <p:sp>
        <p:nvSpPr>
          <p:cNvPr id="18" name="Text 10"/>
          <p:cNvSpPr/>
          <p:nvPr/>
        </p:nvSpPr>
        <p:spPr>
          <a:xfrm>
            <a:off x="586011" y="5146179"/>
            <a:ext cx="8061871" cy="110728"/>
          </a:xfrm>
          <a:prstGeom prst="rect">
            <a:avLst/>
          </a:prstGeom>
          <a:noFill/>
          <a:ln/>
        </p:spPr>
        <p:txBody>
          <a:bodyPr wrap="none" lIns="0" tIns="0" rIns="0" bIns="0" rtlCol="0" anchor="t"/>
          <a:lstStyle/>
          <a:p>
            <a:pPr marL="0" indent="0" algn="l">
              <a:lnSpc>
                <a:spcPct val="104000"/>
              </a:lnSpc>
              <a:buNone/>
            </a:pPr>
            <a:r>
              <a:rPr lang="en-US" sz="650" dirty="0">
                <a:solidFill>
                  <a:srgbClr val="55575A"/>
                </a:solidFill>
                <a:latin typeface="Inter" pitchFamily="34" charset="0"/>
                <a:ea typeface="Inter" pitchFamily="34" charset="-122"/>
                <a:cs typeface="Inter" pitchFamily="34" charset="-120"/>
              </a:rPr>
              <a:t>SAP HANA Database</a:t>
            </a:r>
            <a:endParaRPr lang="en-US" sz="650" dirty="0"/>
          </a:p>
        </p:txBody>
      </p:sp>
      <p:sp>
        <p:nvSpPr>
          <p:cNvPr id="19" name="Text 11"/>
          <p:cNvSpPr/>
          <p:nvPr/>
        </p:nvSpPr>
        <p:spPr>
          <a:xfrm>
            <a:off x="586011" y="5278115"/>
            <a:ext cx="8061871" cy="85055"/>
          </a:xfrm>
          <a:prstGeom prst="rect">
            <a:avLst/>
          </a:prstGeom>
          <a:noFill/>
          <a:ln/>
        </p:spPr>
        <p:txBody>
          <a:bodyPr wrap="none" lIns="0" tIns="0" rIns="0" bIns="0" rtlCol="0" anchor="t"/>
          <a:lstStyle/>
          <a:p>
            <a:pPr marL="0" indent="0" algn="l">
              <a:lnSpc>
                <a:spcPct val="100000"/>
              </a:lnSpc>
              <a:buNone/>
            </a:pPr>
            <a:r>
              <a:rPr lang="en-US" sz="550" dirty="0">
                <a:solidFill>
                  <a:srgbClr val="55575A"/>
                </a:solidFill>
                <a:latin typeface="Manrope" pitchFamily="34" charset="0"/>
                <a:ea typeface="Manrope" pitchFamily="34" charset="-122"/>
                <a:cs typeface="Manrope" pitchFamily="34" charset="-120"/>
              </a:rPr>
              <a:t>In-memory storage with transactional consistency.</a:t>
            </a:r>
            <a:endParaRPr lang="en-US" sz="550" dirty="0"/>
          </a:p>
        </p:txBody>
      </p:sp>
      <mc:AlternateContent xmlns:mc="http://schemas.openxmlformats.org/markup-compatibility/2006">
        <mc:Choice xmlns:p14="http://schemas.microsoft.com/office/powerpoint/2010/main" Requires="p14">
          <p:contentPart p14:bwMode="auto" r:id="rId6">
            <p14:nvContentPartPr>
              <p14:cNvPr id="32" name="Ink 31">
                <a:extLst>
                  <a:ext uri="{FF2B5EF4-FFF2-40B4-BE49-F238E27FC236}">
                    <a16:creationId xmlns:a16="http://schemas.microsoft.com/office/drawing/2014/main" id="{61213DEF-7616-2E44-1A4C-5B1ED8FF1F71}"/>
                  </a:ext>
                </a:extLst>
              </p14:cNvPr>
              <p14:cNvContentPartPr/>
              <p14:nvPr/>
            </p14:nvContentPartPr>
            <p14:xfrm>
              <a:off x="8153526" y="4866157"/>
              <a:ext cx="849600" cy="158040"/>
            </p14:xfrm>
          </p:contentPart>
        </mc:Choice>
        <mc:Fallback>
          <p:pic>
            <p:nvPicPr>
              <p:cNvPr id="32" name="Ink 31">
                <a:extLst>
                  <a:ext uri="{FF2B5EF4-FFF2-40B4-BE49-F238E27FC236}">
                    <a16:creationId xmlns:a16="http://schemas.microsoft.com/office/drawing/2014/main" id="{61213DEF-7616-2E44-1A4C-5B1ED8FF1F71}"/>
                  </a:ext>
                </a:extLst>
              </p:cNvPr>
              <p:cNvPicPr/>
              <p:nvPr/>
            </p:nvPicPr>
            <p:blipFill>
              <a:blip r:embed="rId7"/>
              <a:stretch>
                <a:fillRect/>
              </a:stretch>
            </p:blipFill>
            <p:spPr>
              <a:xfrm>
                <a:off x="8090886" y="4803517"/>
                <a:ext cx="975240" cy="283680"/>
              </a:xfrm>
              <a:prstGeom prst="rect">
                <a:avLst/>
              </a:prstGeom>
            </p:spPr>
          </p:pic>
        </mc:Fallback>
      </mc:AlternateContent>
      <p:grpSp>
        <p:nvGrpSpPr>
          <p:cNvPr id="54" name="Group 53">
            <a:extLst>
              <a:ext uri="{FF2B5EF4-FFF2-40B4-BE49-F238E27FC236}">
                <a16:creationId xmlns:a16="http://schemas.microsoft.com/office/drawing/2014/main" id="{6AAF6DC1-8207-F73B-7801-9D5A2E652CE8}"/>
              </a:ext>
            </a:extLst>
          </p:cNvPr>
          <p:cNvGrpSpPr/>
          <p:nvPr/>
        </p:nvGrpSpPr>
        <p:grpSpPr>
          <a:xfrm>
            <a:off x="8151366" y="4923757"/>
            <a:ext cx="13320" cy="61920"/>
            <a:chOff x="8151366" y="4923757"/>
            <a:chExt cx="13320" cy="61920"/>
          </a:xfrm>
        </p:grpSpPr>
        <mc:AlternateContent xmlns:mc="http://schemas.openxmlformats.org/markup-compatibility/2006">
          <mc:Choice xmlns:p14="http://schemas.microsoft.com/office/powerpoint/2010/main" Requires="p14">
            <p:contentPart p14:bwMode="auto" r:id="rId8">
              <p14:nvContentPartPr>
                <p14:cNvPr id="33" name="Ink 32">
                  <a:extLst>
                    <a:ext uri="{FF2B5EF4-FFF2-40B4-BE49-F238E27FC236}">
                      <a16:creationId xmlns:a16="http://schemas.microsoft.com/office/drawing/2014/main" id="{26666D04-9CDD-5924-E8E9-696B630BC1AF}"/>
                    </a:ext>
                  </a:extLst>
                </p14:cNvPr>
                <p14:cNvContentPartPr/>
                <p14:nvPr/>
              </p14:nvContentPartPr>
              <p14:xfrm>
                <a:off x="8160006" y="4943197"/>
                <a:ext cx="360" cy="360"/>
              </p14:xfrm>
            </p:contentPart>
          </mc:Choice>
          <mc:Fallback>
            <p:pic>
              <p:nvPicPr>
                <p:cNvPr id="33" name="Ink 32">
                  <a:extLst>
                    <a:ext uri="{FF2B5EF4-FFF2-40B4-BE49-F238E27FC236}">
                      <a16:creationId xmlns:a16="http://schemas.microsoft.com/office/drawing/2014/main" id="{26666D04-9CDD-5924-E8E9-696B630BC1AF}"/>
                    </a:ext>
                  </a:extLst>
                </p:cNvPr>
                <p:cNvPicPr/>
                <p:nvPr/>
              </p:nvPicPr>
              <p:blipFill>
                <a:blip r:embed="rId9"/>
                <a:stretch>
                  <a:fillRect/>
                </a:stretch>
              </p:blipFill>
              <p:spPr>
                <a:xfrm>
                  <a:off x="8097366" y="4880197"/>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34" name="Ink 33">
                  <a:extLst>
                    <a:ext uri="{FF2B5EF4-FFF2-40B4-BE49-F238E27FC236}">
                      <a16:creationId xmlns:a16="http://schemas.microsoft.com/office/drawing/2014/main" id="{FBD49A71-107E-7B7B-153B-0BE897EF7E2C}"/>
                    </a:ext>
                  </a:extLst>
                </p14:cNvPr>
                <p14:cNvContentPartPr/>
                <p14:nvPr/>
              </p14:nvContentPartPr>
              <p14:xfrm>
                <a:off x="8160006" y="4939597"/>
                <a:ext cx="360" cy="360"/>
              </p14:xfrm>
            </p:contentPart>
          </mc:Choice>
          <mc:Fallback>
            <p:pic>
              <p:nvPicPr>
                <p:cNvPr id="34" name="Ink 33">
                  <a:extLst>
                    <a:ext uri="{FF2B5EF4-FFF2-40B4-BE49-F238E27FC236}">
                      <a16:creationId xmlns:a16="http://schemas.microsoft.com/office/drawing/2014/main" id="{FBD49A71-107E-7B7B-153B-0BE897EF7E2C}"/>
                    </a:ext>
                  </a:extLst>
                </p:cNvPr>
                <p:cNvPicPr/>
                <p:nvPr/>
              </p:nvPicPr>
              <p:blipFill>
                <a:blip r:embed="rId9"/>
                <a:stretch>
                  <a:fillRect/>
                </a:stretch>
              </p:blipFill>
              <p:spPr>
                <a:xfrm>
                  <a:off x="8097366" y="4876957"/>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37" name="Ink 36">
                  <a:extLst>
                    <a:ext uri="{FF2B5EF4-FFF2-40B4-BE49-F238E27FC236}">
                      <a16:creationId xmlns:a16="http://schemas.microsoft.com/office/drawing/2014/main" id="{4B44435E-9B44-84C3-7E60-CAFDCE8D93F8}"/>
                    </a:ext>
                  </a:extLst>
                </p14:cNvPr>
                <p14:cNvContentPartPr/>
                <p14:nvPr/>
              </p14:nvContentPartPr>
              <p14:xfrm>
                <a:off x="8164326" y="4954357"/>
                <a:ext cx="360" cy="360"/>
              </p14:xfrm>
            </p:contentPart>
          </mc:Choice>
          <mc:Fallback>
            <p:pic>
              <p:nvPicPr>
                <p:cNvPr id="37" name="Ink 36">
                  <a:extLst>
                    <a:ext uri="{FF2B5EF4-FFF2-40B4-BE49-F238E27FC236}">
                      <a16:creationId xmlns:a16="http://schemas.microsoft.com/office/drawing/2014/main" id="{4B44435E-9B44-84C3-7E60-CAFDCE8D93F8}"/>
                    </a:ext>
                  </a:extLst>
                </p:cNvPr>
                <p:cNvPicPr/>
                <p:nvPr/>
              </p:nvPicPr>
              <p:blipFill>
                <a:blip r:embed="rId9"/>
                <a:stretch>
                  <a:fillRect/>
                </a:stretch>
              </p:blipFill>
              <p:spPr>
                <a:xfrm>
                  <a:off x="8101686" y="4891717"/>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40" name="Ink 39">
                  <a:extLst>
                    <a:ext uri="{FF2B5EF4-FFF2-40B4-BE49-F238E27FC236}">
                      <a16:creationId xmlns:a16="http://schemas.microsoft.com/office/drawing/2014/main" id="{976ECEAB-496C-AD62-45E8-6D9CAF09F245}"/>
                    </a:ext>
                  </a:extLst>
                </p14:cNvPr>
                <p14:cNvContentPartPr/>
                <p14:nvPr/>
              </p14:nvContentPartPr>
              <p14:xfrm>
                <a:off x="8160006" y="4985317"/>
                <a:ext cx="360" cy="360"/>
              </p14:xfrm>
            </p:contentPart>
          </mc:Choice>
          <mc:Fallback>
            <p:pic>
              <p:nvPicPr>
                <p:cNvPr id="40" name="Ink 39">
                  <a:extLst>
                    <a:ext uri="{FF2B5EF4-FFF2-40B4-BE49-F238E27FC236}">
                      <a16:creationId xmlns:a16="http://schemas.microsoft.com/office/drawing/2014/main" id="{976ECEAB-496C-AD62-45E8-6D9CAF09F245}"/>
                    </a:ext>
                  </a:extLst>
                </p:cNvPr>
                <p:cNvPicPr/>
                <p:nvPr/>
              </p:nvPicPr>
              <p:blipFill>
                <a:blip r:embed="rId9"/>
                <a:stretch>
                  <a:fillRect/>
                </a:stretch>
              </p:blipFill>
              <p:spPr>
                <a:xfrm>
                  <a:off x="8097366" y="4922677"/>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43" name="Ink 42">
                  <a:extLst>
                    <a:ext uri="{FF2B5EF4-FFF2-40B4-BE49-F238E27FC236}">
                      <a16:creationId xmlns:a16="http://schemas.microsoft.com/office/drawing/2014/main" id="{7E2F4C72-75B6-8ED4-3DDF-F54042E06DCC}"/>
                    </a:ext>
                  </a:extLst>
                </p14:cNvPr>
                <p14:cNvContentPartPr/>
                <p14:nvPr/>
              </p14:nvContentPartPr>
              <p14:xfrm>
                <a:off x="8152446" y="4967677"/>
                <a:ext cx="360" cy="360"/>
              </p14:xfrm>
            </p:contentPart>
          </mc:Choice>
          <mc:Fallback>
            <p:pic>
              <p:nvPicPr>
                <p:cNvPr id="43" name="Ink 42">
                  <a:extLst>
                    <a:ext uri="{FF2B5EF4-FFF2-40B4-BE49-F238E27FC236}">
                      <a16:creationId xmlns:a16="http://schemas.microsoft.com/office/drawing/2014/main" id="{7E2F4C72-75B6-8ED4-3DDF-F54042E06DCC}"/>
                    </a:ext>
                  </a:extLst>
                </p:cNvPr>
                <p:cNvPicPr/>
                <p:nvPr/>
              </p:nvPicPr>
              <p:blipFill>
                <a:blip r:embed="rId9"/>
                <a:stretch>
                  <a:fillRect/>
                </a:stretch>
              </p:blipFill>
              <p:spPr>
                <a:xfrm>
                  <a:off x="8089446" y="4904677"/>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46" name="Ink 45">
                  <a:extLst>
                    <a:ext uri="{FF2B5EF4-FFF2-40B4-BE49-F238E27FC236}">
                      <a16:creationId xmlns:a16="http://schemas.microsoft.com/office/drawing/2014/main" id="{3EE411EA-6C20-A8D7-08D7-33AE67E9DCD2}"/>
                    </a:ext>
                  </a:extLst>
                </p14:cNvPr>
                <p14:cNvContentPartPr/>
                <p14:nvPr/>
              </p14:nvContentPartPr>
              <p14:xfrm>
                <a:off x="8157846" y="4930237"/>
                <a:ext cx="360" cy="360"/>
              </p14:xfrm>
            </p:contentPart>
          </mc:Choice>
          <mc:Fallback>
            <p:pic>
              <p:nvPicPr>
                <p:cNvPr id="46" name="Ink 45">
                  <a:extLst>
                    <a:ext uri="{FF2B5EF4-FFF2-40B4-BE49-F238E27FC236}">
                      <a16:creationId xmlns:a16="http://schemas.microsoft.com/office/drawing/2014/main" id="{3EE411EA-6C20-A8D7-08D7-33AE67E9DCD2}"/>
                    </a:ext>
                  </a:extLst>
                </p:cNvPr>
                <p:cNvPicPr/>
                <p:nvPr/>
              </p:nvPicPr>
              <p:blipFill>
                <a:blip r:embed="rId9"/>
                <a:stretch>
                  <a:fillRect/>
                </a:stretch>
              </p:blipFill>
              <p:spPr>
                <a:xfrm>
                  <a:off x="8094846" y="4867597"/>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49" name="Ink 48">
                  <a:extLst>
                    <a:ext uri="{FF2B5EF4-FFF2-40B4-BE49-F238E27FC236}">
                      <a16:creationId xmlns:a16="http://schemas.microsoft.com/office/drawing/2014/main" id="{DD9D9B10-F0D7-8B83-983F-C19EF1394607}"/>
                    </a:ext>
                  </a:extLst>
                </p14:cNvPr>
                <p14:cNvContentPartPr/>
                <p14:nvPr/>
              </p14:nvContentPartPr>
              <p14:xfrm>
                <a:off x="8161086" y="4923757"/>
                <a:ext cx="360" cy="360"/>
              </p14:xfrm>
            </p:contentPart>
          </mc:Choice>
          <mc:Fallback>
            <p:pic>
              <p:nvPicPr>
                <p:cNvPr id="49" name="Ink 48">
                  <a:extLst>
                    <a:ext uri="{FF2B5EF4-FFF2-40B4-BE49-F238E27FC236}">
                      <a16:creationId xmlns:a16="http://schemas.microsoft.com/office/drawing/2014/main" id="{DD9D9B10-F0D7-8B83-983F-C19EF1394607}"/>
                    </a:ext>
                  </a:extLst>
                </p:cNvPr>
                <p:cNvPicPr/>
                <p:nvPr/>
              </p:nvPicPr>
              <p:blipFill>
                <a:blip r:embed="rId9"/>
                <a:stretch>
                  <a:fillRect/>
                </a:stretch>
              </p:blipFill>
              <p:spPr>
                <a:xfrm>
                  <a:off x="8098086" y="4860757"/>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52" name="Ink 51">
                  <a:extLst>
                    <a:ext uri="{FF2B5EF4-FFF2-40B4-BE49-F238E27FC236}">
                      <a16:creationId xmlns:a16="http://schemas.microsoft.com/office/drawing/2014/main" id="{1A92EEF2-AD0F-0901-F839-902AC4673CC9}"/>
                    </a:ext>
                  </a:extLst>
                </p14:cNvPr>
                <p14:cNvContentPartPr/>
                <p14:nvPr/>
              </p14:nvContentPartPr>
              <p14:xfrm>
                <a:off x="8151366" y="4923757"/>
                <a:ext cx="360" cy="360"/>
              </p14:xfrm>
            </p:contentPart>
          </mc:Choice>
          <mc:Fallback>
            <p:pic>
              <p:nvPicPr>
                <p:cNvPr id="52" name="Ink 51">
                  <a:extLst>
                    <a:ext uri="{FF2B5EF4-FFF2-40B4-BE49-F238E27FC236}">
                      <a16:creationId xmlns:a16="http://schemas.microsoft.com/office/drawing/2014/main" id="{1A92EEF2-AD0F-0901-F839-902AC4673CC9}"/>
                    </a:ext>
                  </a:extLst>
                </p:cNvPr>
                <p:cNvPicPr/>
                <p:nvPr/>
              </p:nvPicPr>
              <p:blipFill>
                <a:blip r:embed="rId9"/>
                <a:stretch>
                  <a:fillRect/>
                </a:stretch>
              </p:blipFill>
              <p:spPr>
                <a:xfrm>
                  <a:off x="8088366" y="4861117"/>
                  <a:ext cx="126000" cy="126000"/>
                </a:xfrm>
                <a:prstGeom prst="rect">
                  <a:avLst/>
                </a:prstGeom>
              </p:spPr>
            </p:pic>
          </mc:Fallback>
        </mc:AlternateContent>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389855"/>
            <a:ext cx="8151763" cy="415305"/>
          </a:xfrm>
          <a:prstGeom prst="rect">
            <a:avLst/>
          </a:prstGeom>
          <a:noFill/>
          <a:ln/>
        </p:spPr>
        <p:txBody>
          <a:bodyPr wrap="none" lIns="0" tIns="0" rIns="0" bIns="0" rtlCol="0" anchor="t"/>
          <a:lstStyle/>
          <a:p>
            <a:pPr marL="0" indent="0" algn="l">
              <a:lnSpc>
                <a:spcPct val="104000"/>
              </a:lnSpc>
              <a:buNone/>
            </a:pPr>
            <a:r>
              <a:rPr lang="en-US" sz="2600" dirty="0">
                <a:solidFill>
                  <a:srgbClr val="0C0D0F"/>
                </a:solidFill>
                <a:latin typeface="Inter" pitchFamily="34" charset="0"/>
                <a:ea typeface="Inter" pitchFamily="34" charset="-122"/>
                <a:cs typeface="Inter" pitchFamily="34" charset="-120"/>
              </a:rPr>
              <a:t>Technologies Used</a:t>
            </a:r>
            <a:endParaRPr lang="en-US" sz="2600" dirty="0"/>
          </a:p>
        </p:txBody>
      </p:sp>
      <p:sp>
        <p:nvSpPr>
          <p:cNvPr id="3" name="Shape 1"/>
          <p:cNvSpPr/>
          <p:nvPr/>
        </p:nvSpPr>
        <p:spPr>
          <a:xfrm>
            <a:off x="496119" y="1054298"/>
            <a:ext cx="8151763" cy="3701653"/>
          </a:xfrm>
          <a:prstGeom prst="roundRect">
            <a:avLst>
              <a:gd name="adj" fmla="val 3231"/>
            </a:avLst>
          </a:prstGeom>
          <a:noFill/>
          <a:ln w="4763">
            <a:solidFill>
              <a:srgbClr val="000000">
                <a:alpha val="8000"/>
              </a:srgbClr>
            </a:solidFill>
            <a:prstDash val="solid"/>
          </a:ln>
        </p:spPr>
        <p:txBody>
          <a:bodyPr/>
          <a:lstStyle/>
          <a:p>
            <a:endParaRPr lang="en-US"/>
          </a:p>
        </p:txBody>
      </p:sp>
      <p:sp>
        <p:nvSpPr>
          <p:cNvPr id="4" name="Shape 2"/>
          <p:cNvSpPr/>
          <p:nvPr/>
        </p:nvSpPr>
        <p:spPr>
          <a:xfrm>
            <a:off x="496119" y="1426369"/>
            <a:ext cx="8151763" cy="8307"/>
          </a:xfrm>
          <a:prstGeom prst="rect">
            <a:avLst/>
          </a:prstGeom>
          <a:solidFill>
            <a:srgbClr val="000000">
              <a:alpha val="8000"/>
            </a:srgbClr>
          </a:solidFill>
          <a:ln/>
        </p:spPr>
        <p:txBody>
          <a:bodyPr/>
          <a:lstStyle/>
          <a:p>
            <a:endParaRPr lang="en-US"/>
          </a:p>
        </p:txBody>
      </p:sp>
      <p:sp>
        <p:nvSpPr>
          <p:cNvPr id="5" name="Shape 3"/>
          <p:cNvSpPr/>
          <p:nvPr/>
        </p:nvSpPr>
        <p:spPr>
          <a:xfrm>
            <a:off x="496119" y="1796058"/>
            <a:ext cx="8151763" cy="8307"/>
          </a:xfrm>
          <a:prstGeom prst="rect">
            <a:avLst/>
          </a:prstGeom>
          <a:solidFill>
            <a:srgbClr val="000000">
              <a:alpha val="8000"/>
            </a:srgbClr>
          </a:solidFill>
          <a:ln/>
        </p:spPr>
        <p:txBody>
          <a:bodyPr/>
          <a:lstStyle/>
          <a:p>
            <a:endParaRPr lang="en-US"/>
          </a:p>
        </p:txBody>
      </p:sp>
      <p:sp>
        <p:nvSpPr>
          <p:cNvPr id="6" name="Shape 4"/>
          <p:cNvSpPr/>
          <p:nvPr/>
        </p:nvSpPr>
        <p:spPr>
          <a:xfrm>
            <a:off x="496119" y="2165747"/>
            <a:ext cx="8151763" cy="8307"/>
          </a:xfrm>
          <a:prstGeom prst="rect">
            <a:avLst/>
          </a:prstGeom>
          <a:solidFill>
            <a:srgbClr val="000000">
              <a:alpha val="8000"/>
            </a:srgbClr>
          </a:solidFill>
          <a:ln/>
        </p:spPr>
        <p:txBody>
          <a:bodyPr/>
          <a:lstStyle/>
          <a:p>
            <a:endParaRPr lang="en-US"/>
          </a:p>
        </p:txBody>
      </p:sp>
      <p:sp>
        <p:nvSpPr>
          <p:cNvPr id="7" name="Shape 5"/>
          <p:cNvSpPr/>
          <p:nvPr/>
        </p:nvSpPr>
        <p:spPr>
          <a:xfrm>
            <a:off x="496119" y="2535436"/>
            <a:ext cx="8151763" cy="8307"/>
          </a:xfrm>
          <a:prstGeom prst="rect">
            <a:avLst/>
          </a:prstGeom>
          <a:solidFill>
            <a:srgbClr val="000000">
              <a:alpha val="8000"/>
            </a:srgbClr>
          </a:solidFill>
          <a:ln/>
        </p:spPr>
        <p:txBody>
          <a:bodyPr/>
          <a:lstStyle/>
          <a:p>
            <a:endParaRPr lang="en-US"/>
          </a:p>
        </p:txBody>
      </p:sp>
      <p:sp>
        <p:nvSpPr>
          <p:cNvPr id="8" name="Shape 6"/>
          <p:cNvSpPr/>
          <p:nvPr/>
        </p:nvSpPr>
        <p:spPr>
          <a:xfrm>
            <a:off x="496119" y="2905125"/>
            <a:ext cx="8151763" cy="8307"/>
          </a:xfrm>
          <a:prstGeom prst="rect">
            <a:avLst/>
          </a:prstGeom>
          <a:solidFill>
            <a:srgbClr val="000000">
              <a:alpha val="8000"/>
            </a:srgbClr>
          </a:solidFill>
          <a:ln/>
        </p:spPr>
        <p:txBody>
          <a:bodyPr/>
          <a:lstStyle/>
          <a:p>
            <a:endParaRPr lang="en-US"/>
          </a:p>
        </p:txBody>
      </p:sp>
      <p:sp>
        <p:nvSpPr>
          <p:cNvPr id="9" name="Shape 7"/>
          <p:cNvSpPr/>
          <p:nvPr/>
        </p:nvSpPr>
        <p:spPr>
          <a:xfrm>
            <a:off x="496119" y="3274814"/>
            <a:ext cx="8151763" cy="8307"/>
          </a:xfrm>
          <a:prstGeom prst="rect">
            <a:avLst/>
          </a:prstGeom>
          <a:solidFill>
            <a:srgbClr val="000000">
              <a:alpha val="8000"/>
            </a:srgbClr>
          </a:solidFill>
          <a:ln/>
        </p:spPr>
        <p:txBody>
          <a:bodyPr/>
          <a:lstStyle/>
          <a:p>
            <a:endParaRPr lang="en-US"/>
          </a:p>
        </p:txBody>
      </p:sp>
      <p:sp>
        <p:nvSpPr>
          <p:cNvPr id="10" name="Shape 8"/>
          <p:cNvSpPr/>
          <p:nvPr/>
        </p:nvSpPr>
        <p:spPr>
          <a:xfrm>
            <a:off x="496119" y="3644503"/>
            <a:ext cx="8151763" cy="8307"/>
          </a:xfrm>
          <a:prstGeom prst="rect">
            <a:avLst/>
          </a:prstGeom>
          <a:solidFill>
            <a:srgbClr val="000000">
              <a:alpha val="8000"/>
            </a:srgbClr>
          </a:solidFill>
          <a:ln/>
        </p:spPr>
        <p:txBody>
          <a:bodyPr/>
          <a:lstStyle/>
          <a:p>
            <a:endParaRPr lang="en-US"/>
          </a:p>
        </p:txBody>
      </p:sp>
      <p:sp>
        <p:nvSpPr>
          <p:cNvPr id="11" name="Shape 9"/>
          <p:cNvSpPr/>
          <p:nvPr/>
        </p:nvSpPr>
        <p:spPr>
          <a:xfrm>
            <a:off x="496119" y="4014192"/>
            <a:ext cx="8151763" cy="8307"/>
          </a:xfrm>
          <a:prstGeom prst="rect">
            <a:avLst/>
          </a:prstGeom>
          <a:solidFill>
            <a:srgbClr val="000000">
              <a:alpha val="8000"/>
            </a:srgbClr>
          </a:solidFill>
          <a:ln/>
        </p:spPr>
        <p:txBody>
          <a:bodyPr/>
          <a:lstStyle/>
          <a:p>
            <a:endParaRPr lang="en-US"/>
          </a:p>
        </p:txBody>
      </p:sp>
      <p:sp>
        <p:nvSpPr>
          <p:cNvPr id="12" name="Shape 10"/>
          <p:cNvSpPr/>
          <p:nvPr/>
        </p:nvSpPr>
        <p:spPr>
          <a:xfrm>
            <a:off x="496119" y="4383881"/>
            <a:ext cx="8151763" cy="8307"/>
          </a:xfrm>
          <a:prstGeom prst="rect">
            <a:avLst/>
          </a:prstGeom>
          <a:solidFill>
            <a:srgbClr val="000000">
              <a:alpha val="8000"/>
            </a:srgbClr>
          </a:solidFill>
          <a:ln/>
        </p:spPr>
        <p:txBody>
          <a:bodyPr/>
          <a:lstStyle/>
          <a:p>
            <a:endParaRPr lang="en-US"/>
          </a:p>
        </p:txBody>
      </p:sp>
      <p:sp>
        <p:nvSpPr>
          <p:cNvPr id="13" name="Text 11"/>
          <p:cNvSpPr/>
          <p:nvPr/>
        </p:nvSpPr>
        <p:spPr>
          <a:xfrm>
            <a:off x="633785" y="1138535"/>
            <a:ext cx="4262512" cy="205978"/>
          </a:xfrm>
          <a:prstGeom prst="rect">
            <a:avLst/>
          </a:prstGeom>
          <a:noFill/>
          <a:ln/>
        </p:spPr>
        <p:txBody>
          <a:bodyPr wrap="none" lIns="0" tIns="0" rIns="0" bIns="0" rtlCol="0" anchor="t"/>
          <a:lstStyle/>
          <a:p>
            <a:pPr marL="0" indent="0" algn="l">
              <a:lnSpc>
                <a:spcPct val="129000"/>
              </a:lnSpc>
              <a:buNone/>
            </a:pPr>
            <a:r>
              <a:rPr lang="en-US" sz="1000" b="1" dirty="0">
                <a:solidFill>
                  <a:srgbClr val="55575A"/>
                </a:solidFill>
                <a:latin typeface="Manrope Bold" pitchFamily="34" charset="0"/>
                <a:ea typeface="Manrope Bold" pitchFamily="34" charset="-122"/>
                <a:cs typeface="Manrope Bold" pitchFamily="34" charset="-120"/>
              </a:rPr>
              <a:t>Technology</a:t>
            </a:r>
            <a:endParaRPr lang="en-US" sz="1000" dirty="0"/>
          </a:p>
        </p:txBody>
      </p:sp>
      <p:sp>
        <p:nvSpPr>
          <p:cNvPr id="14" name="Text 12"/>
          <p:cNvSpPr/>
          <p:nvPr/>
        </p:nvSpPr>
        <p:spPr>
          <a:xfrm>
            <a:off x="4704904" y="1138535"/>
            <a:ext cx="4262512" cy="205978"/>
          </a:xfrm>
          <a:prstGeom prst="rect">
            <a:avLst/>
          </a:prstGeom>
          <a:noFill/>
          <a:ln/>
        </p:spPr>
        <p:txBody>
          <a:bodyPr wrap="none" lIns="0" tIns="0" rIns="0" bIns="0" rtlCol="0" anchor="t"/>
          <a:lstStyle/>
          <a:p>
            <a:pPr marL="0" indent="0" algn="l">
              <a:lnSpc>
                <a:spcPct val="129000"/>
              </a:lnSpc>
              <a:buNone/>
            </a:pPr>
            <a:r>
              <a:rPr lang="en-US" sz="1000" b="1" dirty="0">
                <a:solidFill>
                  <a:srgbClr val="55575A"/>
                </a:solidFill>
                <a:latin typeface="Manrope Bold" pitchFamily="34" charset="0"/>
                <a:ea typeface="Manrope Bold" pitchFamily="34" charset="-122"/>
                <a:cs typeface="Manrope Bold" pitchFamily="34" charset="-120"/>
              </a:rPr>
              <a:t>Purpose</a:t>
            </a:r>
            <a:endParaRPr lang="en-US" sz="1000" dirty="0"/>
          </a:p>
        </p:txBody>
      </p:sp>
      <p:sp>
        <p:nvSpPr>
          <p:cNvPr id="15" name="Text 13"/>
          <p:cNvSpPr/>
          <p:nvPr/>
        </p:nvSpPr>
        <p:spPr>
          <a:xfrm>
            <a:off x="633785" y="1508224"/>
            <a:ext cx="4262512" cy="205978"/>
          </a:xfrm>
          <a:prstGeom prst="rect">
            <a:avLst/>
          </a:prstGeom>
          <a:noFill/>
          <a:ln/>
        </p:spPr>
        <p:txBody>
          <a:bodyPr wrap="none" lIns="0" tIns="0" rIns="0" bIns="0" rtlCol="0" anchor="t"/>
          <a:lstStyle/>
          <a:p>
            <a:pPr marL="0" indent="0" algn="l">
              <a:lnSpc>
                <a:spcPct val="129000"/>
              </a:lnSpc>
              <a:buNone/>
            </a:pPr>
            <a:r>
              <a:rPr lang="en-US" sz="1000" dirty="0">
                <a:solidFill>
                  <a:srgbClr val="55575A"/>
                </a:solidFill>
                <a:latin typeface="Manrope" pitchFamily="34" charset="0"/>
                <a:ea typeface="Manrope" pitchFamily="34" charset="-122"/>
                <a:cs typeface="Manrope" pitchFamily="34" charset="-120"/>
              </a:rPr>
              <a:t>SAP ABAP Cloud</a:t>
            </a:r>
            <a:endParaRPr lang="en-US" sz="1000" dirty="0"/>
          </a:p>
        </p:txBody>
      </p:sp>
      <p:sp>
        <p:nvSpPr>
          <p:cNvPr id="16" name="Text 14"/>
          <p:cNvSpPr/>
          <p:nvPr/>
        </p:nvSpPr>
        <p:spPr>
          <a:xfrm>
            <a:off x="4704904" y="1508224"/>
            <a:ext cx="4262512" cy="205978"/>
          </a:xfrm>
          <a:prstGeom prst="rect">
            <a:avLst/>
          </a:prstGeom>
          <a:noFill/>
          <a:ln/>
        </p:spPr>
        <p:txBody>
          <a:bodyPr wrap="none" lIns="0" tIns="0" rIns="0" bIns="0" rtlCol="0" anchor="t"/>
          <a:lstStyle/>
          <a:p>
            <a:pPr marL="0" indent="0" algn="l">
              <a:lnSpc>
                <a:spcPct val="129000"/>
              </a:lnSpc>
              <a:buNone/>
            </a:pPr>
            <a:r>
              <a:rPr lang="en-US" sz="1000" dirty="0">
                <a:solidFill>
                  <a:srgbClr val="55575A"/>
                </a:solidFill>
                <a:latin typeface="Manrope" pitchFamily="34" charset="0"/>
                <a:ea typeface="Manrope" pitchFamily="34" charset="-122"/>
                <a:cs typeface="Manrope" pitchFamily="34" charset="-120"/>
              </a:rPr>
              <a:t>Backend programming with clean-core standards</a:t>
            </a:r>
            <a:endParaRPr lang="en-US" sz="1000" dirty="0"/>
          </a:p>
        </p:txBody>
      </p:sp>
      <p:sp>
        <p:nvSpPr>
          <p:cNvPr id="17" name="Text 15"/>
          <p:cNvSpPr/>
          <p:nvPr/>
        </p:nvSpPr>
        <p:spPr>
          <a:xfrm>
            <a:off x="633785" y="1877913"/>
            <a:ext cx="4262512" cy="205978"/>
          </a:xfrm>
          <a:prstGeom prst="rect">
            <a:avLst/>
          </a:prstGeom>
          <a:noFill/>
          <a:ln/>
        </p:spPr>
        <p:txBody>
          <a:bodyPr wrap="none" lIns="0" tIns="0" rIns="0" bIns="0" rtlCol="0" anchor="t"/>
          <a:lstStyle/>
          <a:p>
            <a:pPr marL="0" indent="0" algn="l">
              <a:lnSpc>
                <a:spcPct val="129000"/>
              </a:lnSpc>
              <a:buNone/>
            </a:pPr>
            <a:r>
              <a:rPr lang="en-US" sz="1000" dirty="0">
                <a:solidFill>
                  <a:srgbClr val="55575A"/>
                </a:solidFill>
                <a:latin typeface="Manrope" pitchFamily="34" charset="0"/>
                <a:ea typeface="Manrope" pitchFamily="34" charset="-122"/>
                <a:cs typeface="Manrope" pitchFamily="34" charset="-120"/>
              </a:rPr>
              <a:t>SAP RAP</a:t>
            </a:r>
            <a:endParaRPr lang="en-US" sz="1000" dirty="0"/>
          </a:p>
        </p:txBody>
      </p:sp>
      <p:sp>
        <p:nvSpPr>
          <p:cNvPr id="18" name="Text 16"/>
          <p:cNvSpPr/>
          <p:nvPr/>
        </p:nvSpPr>
        <p:spPr>
          <a:xfrm>
            <a:off x="4704904" y="1877913"/>
            <a:ext cx="4262512" cy="205978"/>
          </a:xfrm>
          <a:prstGeom prst="rect">
            <a:avLst/>
          </a:prstGeom>
          <a:noFill/>
          <a:ln/>
        </p:spPr>
        <p:txBody>
          <a:bodyPr wrap="none" lIns="0" tIns="0" rIns="0" bIns="0" rtlCol="0" anchor="t"/>
          <a:lstStyle/>
          <a:p>
            <a:pPr marL="0" indent="0" algn="l">
              <a:lnSpc>
                <a:spcPct val="129000"/>
              </a:lnSpc>
              <a:buNone/>
            </a:pPr>
            <a:r>
              <a:rPr lang="en-US" sz="1000" dirty="0">
                <a:solidFill>
                  <a:srgbClr val="55575A"/>
                </a:solidFill>
                <a:latin typeface="Manrope" pitchFamily="34" charset="0"/>
                <a:ea typeface="Manrope" pitchFamily="34" charset="-122"/>
                <a:cs typeface="Manrope" pitchFamily="34" charset="-120"/>
              </a:rPr>
              <a:t>Business object framework for CRUD, drafts, and validations</a:t>
            </a:r>
            <a:endParaRPr lang="en-US" sz="1000" dirty="0"/>
          </a:p>
        </p:txBody>
      </p:sp>
      <p:sp>
        <p:nvSpPr>
          <p:cNvPr id="19" name="Text 17"/>
          <p:cNvSpPr/>
          <p:nvPr/>
        </p:nvSpPr>
        <p:spPr>
          <a:xfrm>
            <a:off x="633785" y="2247602"/>
            <a:ext cx="4262512" cy="205978"/>
          </a:xfrm>
          <a:prstGeom prst="rect">
            <a:avLst/>
          </a:prstGeom>
          <a:noFill/>
          <a:ln/>
        </p:spPr>
        <p:txBody>
          <a:bodyPr wrap="none" lIns="0" tIns="0" rIns="0" bIns="0" rtlCol="0" anchor="t"/>
          <a:lstStyle/>
          <a:p>
            <a:pPr marL="0" indent="0" algn="l">
              <a:lnSpc>
                <a:spcPct val="129000"/>
              </a:lnSpc>
              <a:buNone/>
            </a:pPr>
            <a:r>
              <a:rPr lang="en-US" sz="1000" dirty="0">
                <a:solidFill>
                  <a:srgbClr val="55575A"/>
                </a:solidFill>
                <a:latin typeface="Manrope" pitchFamily="34" charset="0"/>
                <a:ea typeface="Manrope" pitchFamily="34" charset="-122"/>
                <a:cs typeface="Manrope" pitchFamily="34" charset="-120"/>
              </a:rPr>
              <a:t>CDS View Entities</a:t>
            </a:r>
            <a:endParaRPr lang="en-US" sz="1000" dirty="0"/>
          </a:p>
        </p:txBody>
      </p:sp>
      <p:sp>
        <p:nvSpPr>
          <p:cNvPr id="20" name="Text 18"/>
          <p:cNvSpPr/>
          <p:nvPr/>
        </p:nvSpPr>
        <p:spPr>
          <a:xfrm>
            <a:off x="4704904" y="2247602"/>
            <a:ext cx="4262512" cy="205978"/>
          </a:xfrm>
          <a:prstGeom prst="rect">
            <a:avLst/>
          </a:prstGeom>
          <a:noFill/>
          <a:ln/>
        </p:spPr>
        <p:txBody>
          <a:bodyPr wrap="none" lIns="0" tIns="0" rIns="0" bIns="0" rtlCol="0" anchor="t"/>
          <a:lstStyle/>
          <a:p>
            <a:pPr marL="0" indent="0" algn="l">
              <a:lnSpc>
                <a:spcPct val="129000"/>
              </a:lnSpc>
              <a:buNone/>
            </a:pPr>
            <a:r>
              <a:rPr lang="en-US" sz="1000" dirty="0">
                <a:solidFill>
                  <a:srgbClr val="55575A"/>
                </a:solidFill>
                <a:latin typeface="Manrope" pitchFamily="34" charset="0"/>
                <a:ea typeface="Manrope" pitchFamily="34" charset="-122"/>
                <a:cs typeface="Manrope" pitchFamily="34" charset="-120"/>
              </a:rPr>
              <a:t>Data modeling with UI annotations</a:t>
            </a:r>
            <a:endParaRPr lang="en-US" sz="1000" dirty="0"/>
          </a:p>
        </p:txBody>
      </p:sp>
      <p:sp>
        <p:nvSpPr>
          <p:cNvPr id="21" name="Text 19"/>
          <p:cNvSpPr/>
          <p:nvPr/>
        </p:nvSpPr>
        <p:spPr>
          <a:xfrm>
            <a:off x="633785" y="2617291"/>
            <a:ext cx="4262512" cy="205978"/>
          </a:xfrm>
          <a:prstGeom prst="rect">
            <a:avLst/>
          </a:prstGeom>
          <a:noFill/>
          <a:ln/>
        </p:spPr>
        <p:txBody>
          <a:bodyPr wrap="none" lIns="0" tIns="0" rIns="0" bIns="0" rtlCol="0" anchor="t"/>
          <a:lstStyle/>
          <a:p>
            <a:pPr marL="0" indent="0" algn="l">
              <a:lnSpc>
                <a:spcPct val="129000"/>
              </a:lnSpc>
              <a:buNone/>
            </a:pPr>
            <a:r>
              <a:rPr lang="en-US" sz="1000" dirty="0">
                <a:solidFill>
                  <a:srgbClr val="55575A"/>
                </a:solidFill>
                <a:latin typeface="Manrope" pitchFamily="34" charset="0"/>
                <a:ea typeface="Manrope" pitchFamily="34" charset="-122"/>
                <a:cs typeface="Manrope" pitchFamily="34" charset="-120"/>
              </a:rPr>
              <a:t>Behavior Definition</a:t>
            </a:r>
            <a:endParaRPr lang="en-US" sz="1000" dirty="0"/>
          </a:p>
        </p:txBody>
      </p:sp>
      <p:sp>
        <p:nvSpPr>
          <p:cNvPr id="22" name="Text 20"/>
          <p:cNvSpPr/>
          <p:nvPr/>
        </p:nvSpPr>
        <p:spPr>
          <a:xfrm>
            <a:off x="4704904" y="2617291"/>
            <a:ext cx="4262512" cy="205978"/>
          </a:xfrm>
          <a:prstGeom prst="rect">
            <a:avLst/>
          </a:prstGeom>
          <a:noFill/>
          <a:ln/>
        </p:spPr>
        <p:txBody>
          <a:bodyPr wrap="none" lIns="0" tIns="0" rIns="0" bIns="0" rtlCol="0" anchor="t"/>
          <a:lstStyle/>
          <a:p>
            <a:pPr marL="0" indent="0" algn="l">
              <a:lnSpc>
                <a:spcPct val="129000"/>
              </a:lnSpc>
              <a:buNone/>
            </a:pPr>
            <a:r>
              <a:rPr lang="en-US" sz="1000" dirty="0">
                <a:solidFill>
                  <a:srgbClr val="55575A"/>
                </a:solidFill>
                <a:latin typeface="Manrope" pitchFamily="34" charset="0"/>
                <a:ea typeface="Manrope" pitchFamily="34" charset="-122"/>
                <a:cs typeface="Manrope" pitchFamily="34" charset="-120"/>
              </a:rPr>
              <a:t>Business rules, operations, and draft support</a:t>
            </a:r>
            <a:endParaRPr lang="en-US" sz="1000" dirty="0"/>
          </a:p>
        </p:txBody>
      </p:sp>
      <p:sp>
        <p:nvSpPr>
          <p:cNvPr id="23" name="Text 21"/>
          <p:cNvSpPr/>
          <p:nvPr/>
        </p:nvSpPr>
        <p:spPr>
          <a:xfrm>
            <a:off x="633785" y="2986980"/>
            <a:ext cx="4262512" cy="205978"/>
          </a:xfrm>
          <a:prstGeom prst="rect">
            <a:avLst/>
          </a:prstGeom>
          <a:noFill/>
          <a:ln/>
        </p:spPr>
        <p:txBody>
          <a:bodyPr wrap="none" lIns="0" tIns="0" rIns="0" bIns="0" rtlCol="0" anchor="t"/>
          <a:lstStyle/>
          <a:p>
            <a:pPr marL="0" indent="0" algn="l">
              <a:lnSpc>
                <a:spcPct val="129000"/>
              </a:lnSpc>
              <a:buNone/>
            </a:pPr>
            <a:r>
              <a:rPr lang="en-US" sz="1000" dirty="0">
                <a:solidFill>
                  <a:srgbClr val="55575A"/>
                </a:solidFill>
                <a:latin typeface="Manrope" pitchFamily="34" charset="0"/>
                <a:ea typeface="Manrope" pitchFamily="34" charset="-122"/>
                <a:cs typeface="Manrope" pitchFamily="34" charset="-120"/>
              </a:rPr>
              <a:t>Behavior Implementation</a:t>
            </a:r>
            <a:endParaRPr lang="en-US" sz="1000" dirty="0"/>
          </a:p>
        </p:txBody>
      </p:sp>
      <p:sp>
        <p:nvSpPr>
          <p:cNvPr id="24" name="Text 22"/>
          <p:cNvSpPr/>
          <p:nvPr/>
        </p:nvSpPr>
        <p:spPr>
          <a:xfrm>
            <a:off x="4704904" y="2986980"/>
            <a:ext cx="4262512" cy="205978"/>
          </a:xfrm>
          <a:prstGeom prst="rect">
            <a:avLst/>
          </a:prstGeom>
          <a:noFill/>
          <a:ln/>
        </p:spPr>
        <p:txBody>
          <a:bodyPr wrap="none" lIns="0" tIns="0" rIns="0" bIns="0" rtlCol="0" anchor="t"/>
          <a:lstStyle/>
          <a:p>
            <a:pPr marL="0" indent="0" algn="l">
              <a:lnSpc>
                <a:spcPct val="129000"/>
              </a:lnSpc>
              <a:buNone/>
            </a:pPr>
            <a:r>
              <a:rPr lang="en-US" sz="1000" dirty="0">
                <a:solidFill>
                  <a:srgbClr val="55575A"/>
                </a:solidFill>
                <a:latin typeface="Manrope" pitchFamily="34" charset="0"/>
                <a:ea typeface="Manrope" pitchFamily="34" charset="-122"/>
                <a:cs typeface="Manrope" pitchFamily="34" charset="-120"/>
              </a:rPr>
              <a:t>Validation and determination logic</a:t>
            </a:r>
            <a:endParaRPr lang="en-US" sz="1000" dirty="0"/>
          </a:p>
        </p:txBody>
      </p:sp>
      <p:sp>
        <p:nvSpPr>
          <p:cNvPr id="25" name="Text 23"/>
          <p:cNvSpPr/>
          <p:nvPr/>
        </p:nvSpPr>
        <p:spPr>
          <a:xfrm>
            <a:off x="633785" y="3356670"/>
            <a:ext cx="4262512" cy="205978"/>
          </a:xfrm>
          <a:prstGeom prst="rect">
            <a:avLst/>
          </a:prstGeom>
          <a:noFill/>
          <a:ln/>
        </p:spPr>
        <p:txBody>
          <a:bodyPr wrap="none" lIns="0" tIns="0" rIns="0" bIns="0" rtlCol="0" anchor="t"/>
          <a:lstStyle/>
          <a:p>
            <a:pPr marL="0" indent="0" algn="l">
              <a:lnSpc>
                <a:spcPct val="129000"/>
              </a:lnSpc>
              <a:buNone/>
            </a:pPr>
            <a:r>
              <a:rPr lang="en-US" sz="1000" dirty="0">
                <a:solidFill>
                  <a:srgbClr val="55575A"/>
                </a:solidFill>
                <a:latin typeface="Manrope" pitchFamily="34" charset="0"/>
                <a:ea typeface="Manrope" pitchFamily="34" charset="-122"/>
                <a:cs typeface="Manrope" pitchFamily="34" charset="-120"/>
              </a:rPr>
              <a:t>OData V4</a:t>
            </a:r>
            <a:endParaRPr lang="en-US" sz="1000" dirty="0"/>
          </a:p>
        </p:txBody>
      </p:sp>
      <p:sp>
        <p:nvSpPr>
          <p:cNvPr id="26" name="Text 24"/>
          <p:cNvSpPr/>
          <p:nvPr/>
        </p:nvSpPr>
        <p:spPr>
          <a:xfrm>
            <a:off x="4704904" y="3356670"/>
            <a:ext cx="4262512" cy="205978"/>
          </a:xfrm>
          <a:prstGeom prst="rect">
            <a:avLst/>
          </a:prstGeom>
          <a:noFill/>
          <a:ln/>
        </p:spPr>
        <p:txBody>
          <a:bodyPr wrap="none" lIns="0" tIns="0" rIns="0" bIns="0" rtlCol="0" anchor="t"/>
          <a:lstStyle/>
          <a:p>
            <a:pPr marL="0" indent="0" algn="l">
              <a:lnSpc>
                <a:spcPct val="129000"/>
              </a:lnSpc>
              <a:buNone/>
            </a:pPr>
            <a:r>
              <a:rPr lang="en-US" sz="1000" dirty="0">
                <a:solidFill>
                  <a:srgbClr val="55575A"/>
                </a:solidFill>
                <a:latin typeface="Manrope" pitchFamily="34" charset="0"/>
                <a:ea typeface="Manrope" pitchFamily="34" charset="-122"/>
                <a:cs typeface="Manrope" pitchFamily="34" charset="-120"/>
              </a:rPr>
              <a:t>Service exposure for Fiori Elements</a:t>
            </a:r>
            <a:endParaRPr lang="en-US" sz="1000" dirty="0"/>
          </a:p>
        </p:txBody>
      </p:sp>
      <p:sp>
        <p:nvSpPr>
          <p:cNvPr id="27" name="Text 25"/>
          <p:cNvSpPr/>
          <p:nvPr/>
        </p:nvSpPr>
        <p:spPr>
          <a:xfrm>
            <a:off x="633785" y="3726359"/>
            <a:ext cx="4262512" cy="205978"/>
          </a:xfrm>
          <a:prstGeom prst="rect">
            <a:avLst/>
          </a:prstGeom>
          <a:noFill/>
          <a:ln/>
        </p:spPr>
        <p:txBody>
          <a:bodyPr wrap="none" lIns="0" tIns="0" rIns="0" bIns="0" rtlCol="0" anchor="t"/>
          <a:lstStyle/>
          <a:p>
            <a:pPr marL="0" indent="0" algn="l">
              <a:lnSpc>
                <a:spcPct val="129000"/>
              </a:lnSpc>
              <a:buNone/>
            </a:pPr>
            <a:r>
              <a:rPr lang="en-US" sz="1000" dirty="0">
                <a:solidFill>
                  <a:srgbClr val="55575A"/>
                </a:solidFill>
                <a:latin typeface="Manrope" pitchFamily="34" charset="0"/>
                <a:ea typeface="Manrope" pitchFamily="34" charset="-122"/>
                <a:cs typeface="Manrope" pitchFamily="34" charset="-120"/>
              </a:rPr>
              <a:t>SAP Fiori Elements</a:t>
            </a:r>
            <a:endParaRPr lang="en-US" sz="1000" dirty="0"/>
          </a:p>
        </p:txBody>
      </p:sp>
      <p:sp>
        <p:nvSpPr>
          <p:cNvPr id="28" name="Text 26"/>
          <p:cNvSpPr/>
          <p:nvPr/>
        </p:nvSpPr>
        <p:spPr>
          <a:xfrm>
            <a:off x="4704904" y="3726359"/>
            <a:ext cx="4262512" cy="205978"/>
          </a:xfrm>
          <a:prstGeom prst="rect">
            <a:avLst/>
          </a:prstGeom>
          <a:noFill/>
          <a:ln/>
        </p:spPr>
        <p:txBody>
          <a:bodyPr wrap="none" lIns="0" tIns="0" rIns="0" bIns="0" rtlCol="0" anchor="t"/>
          <a:lstStyle/>
          <a:p>
            <a:pPr marL="0" indent="0" algn="l">
              <a:lnSpc>
                <a:spcPct val="129000"/>
              </a:lnSpc>
              <a:buNone/>
            </a:pPr>
            <a:r>
              <a:rPr lang="en-US" sz="1000" dirty="0">
                <a:solidFill>
                  <a:srgbClr val="55575A"/>
                </a:solidFill>
                <a:latin typeface="Manrope" pitchFamily="34" charset="0"/>
                <a:ea typeface="Manrope" pitchFamily="34" charset="-122"/>
                <a:cs typeface="Manrope" pitchFamily="34" charset="-120"/>
              </a:rPr>
              <a:t>Auto-generated responsive web UI</a:t>
            </a:r>
            <a:endParaRPr lang="en-US" sz="1000" dirty="0"/>
          </a:p>
        </p:txBody>
      </p:sp>
      <p:sp>
        <p:nvSpPr>
          <p:cNvPr id="29" name="Text 27"/>
          <p:cNvSpPr/>
          <p:nvPr/>
        </p:nvSpPr>
        <p:spPr>
          <a:xfrm>
            <a:off x="633785" y="4096048"/>
            <a:ext cx="4262512" cy="205978"/>
          </a:xfrm>
          <a:prstGeom prst="rect">
            <a:avLst/>
          </a:prstGeom>
          <a:noFill/>
          <a:ln/>
        </p:spPr>
        <p:txBody>
          <a:bodyPr wrap="none" lIns="0" tIns="0" rIns="0" bIns="0" rtlCol="0" anchor="t"/>
          <a:lstStyle/>
          <a:p>
            <a:pPr marL="0" indent="0" algn="l">
              <a:lnSpc>
                <a:spcPct val="129000"/>
              </a:lnSpc>
              <a:buNone/>
            </a:pPr>
            <a:r>
              <a:rPr lang="en-US" sz="1000" dirty="0">
                <a:solidFill>
                  <a:srgbClr val="55575A"/>
                </a:solidFill>
                <a:latin typeface="Manrope" pitchFamily="34" charset="0"/>
                <a:ea typeface="Manrope" pitchFamily="34" charset="-122"/>
                <a:cs typeface="Manrope" pitchFamily="34" charset="-120"/>
              </a:rPr>
              <a:t>SAP HANA Database</a:t>
            </a:r>
            <a:endParaRPr lang="en-US" sz="1000" dirty="0"/>
          </a:p>
        </p:txBody>
      </p:sp>
      <p:sp>
        <p:nvSpPr>
          <p:cNvPr id="30" name="Text 28"/>
          <p:cNvSpPr/>
          <p:nvPr/>
        </p:nvSpPr>
        <p:spPr>
          <a:xfrm>
            <a:off x="4704904" y="4096048"/>
            <a:ext cx="4262512" cy="205978"/>
          </a:xfrm>
          <a:prstGeom prst="rect">
            <a:avLst/>
          </a:prstGeom>
          <a:noFill/>
          <a:ln/>
        </p:spPr>
        <p:txBody>
          <a:bodyPr wrap="none" lIns="0" tIns="0" rIns="0" bIns="0" rtlCol="0" anchor="t"/>
          <a:lstStyle/>
          <a:p>
            <a:pPr marL="0" indent="0" algn="l">
              <a:lnSpc>
                <a:spcPct val="129000"/>
              </a:lnSpc>
              <a:buNone/>
            </a:pPr>
            <a:r>
              <a:rPr lang="en-US" sz="1000" dirty="0">
                <a:solidFill>
                  <a:srgbClr val="55575A"/>
                </a:solidFill>
                <a:latin typeface="Manrope" pitchFamily="34" charset="0"/>
                <a:ea typeface="Manrope" pitchFamily="34" charset="-122"/>
                <a:cs typeface="Manrope" pitchFamily="34" charset="-120"/>
              </a:rPr>
              <a:t>In-memory persistent storage</a:t>
            </a:r>
            <a:endParaRPr lang="en-US" sz="1000" dirty="0"/>
          </a:p>
        </p:txBody>
      </p:sp>
      <p:sp>
        <p:nvSpPr>
          <p:cNvPr id="31" name="Text 29"/>
          <p:cNvSpPr/>
          <p:nvPr/>
        </p:nvSpPr>
        <p:spPr>
          <a:xfrm>
            <a:off x="633785" y="4465737"/>
            <a:ext cx="4262512" cy="205978"/>
          </a:xfrm>
          <a:prstGeom prst="rect">
            <a:avLst/>
          </a:prstGeom>
          <a:noFill/>
          <a:ln/>
        </p:spPr>
        <p:txBody>
          <a:bodyPr wrap="none" lIns="0" tIns="0" rIns="0" bIns="0" rtlCol="0" anchor="t"/>
          <a:lstStyle/>
          <a:p>
            <a:pPr marL="0" indent="0" algn="l">
              <a:lnSpc>
                <a:spcPct val="129000"/>
              </a:lnSpc>
              <a:buNone/>
            </a:pPr>
            <a:r>
              <a:rPr lang="en-US" sz="1000" dirty="0">
                <a:solidFill>
                  <a:srgbClr val="55575A"/>
                </a:solidFill>
                <a:latin typeface="Manrope" pitchFamily="34" charset="0"/>
                <a:ea typeface="Manrope" pitchFamily="34" charset="-122"/>
                <a:cs typeface="Manrope" pitchFamily="34" charset="-120"/>
              </a:rPr>
              <a:t>Eclipse ADT</a:t>
            </a:r>
            <a:endParaRPr lang="en-US" sz="1000" dirty="0"/>
          </a:p>
        </p:txBody>
      </p:sp>
      <p:sp>
        <p:nvSpPr>
          <p:cNvPr id="32" name="Text 30"/>
          <p:cNvSpPr/>
          <p:nvPr/>
        </p:nvSpPr>
        <p:spPr>
          <a:xfrm>
            <a:off x="4704904" y="4465737"/>
            <a:ext cx="4262512" cy="205978"/>
          </a:xfrm>
          <a:prstGeom prst="rect">
            <a:avLst/>
          </a:prstGeom>
          <a:noFill/>
          <a:ln/>
        </p:spPr>
        <p:txBody>
          <a:bodyPr wrap="none" lIns="0" tIns="0" rIns="0" bIns="0" rtlCol="0" anchor="t"/>
          <a:lstStyle/>
          <a:p>
            <a:pPr marL="0" indent="0" algn="l">
              <a:lnSpc>
                <a:spcPct val="129000"/>
              </a:lnSpc>
              <a:buNone/>
            </a:pPr>
            <a:r>
              <a:rPr lang="en-US" sz="1000" dirty="0">
                <a:solidFill>
                  <a:srgbClr val="55575A"/>
                </a:solidFill>
                <a:latin typeface="Manrope" pitchFamily="34" charset="0"/>
                <a:ea typeface="Manrope" pitchFamily="34" charset="-122"/>
                <a:cs typeface="Manrope" pitchFamily="34" charset="-120"/>
              </a:rPr>
              <a:t>Development environment</a:t>
            </a:r>
            <a:endParaRPr lang="en-US" sz="1000" dirty="0"/>
          </a:p>
        </p:txBody>
      </p:sp>
      <mc:AlternateContent xmlns:mc="http://schemas.openxmlformats.org/markup-compatibility/2006">
        <mc:Choice xmlns:p14="http://schemas.microsoft.com/office/powerpoint/2010/main" Requires="p14">
          <p:contentPart p14:bwMode="auto" r:id="rId3">
            <p14:nvContentPartPr>
              <p14:cNvPr id="35" name="Ink 34">
                <a:extLst>
                  <a:ext uri="{FF2B5EF4-FFF2-40B4-BE49-F238E27FC236}">
                    <a16:creationId xmlns:a16="http://schemas.microsoft.com/office/drawing/2014/main" id="{5BC05C61-A693-CF7F-8979-0154DCC73F48}"/>
                  </a:ext>
                </a:extLst>
              </p14:cNvPr>
              <p14:cNvContentPartPr/>
              <p14:nvPr/>
            </p14:nvContentPartPr>
            <p14:xfrm>
              <a:off x="8032566" y="4820926"/>
              <a:ext cx="915840" cy="155520"/>
            </p14:xfrm>
          </p:contentPart>
        </mc:Choice>
        <mc:Fallback>
          <p:pic>
            <p:nvPicPr>
              <p:cNvPr id="35" name="Ink 34">
                <a:extLst>
                  <a:ext uri="{FF2B5EF4-FFF2-40B4-BE49-F238E27FC236}">
                    <a16:creationId xmlns:a16="http://schemas.microsoft.com/office/drawing/2014/main" id="{5BC05C61-A693-CF7F-8979-0154DCC73F48}"/>
                  </a:ext>
                </a:extLst>
              </p:cNvPr>
              <p:cNvPicPr/>
              <p:nvPr/>
            </p:nvPicPr>
            <p:blipFill>
              <a:blip r:embed="rId4"/>
              <a:stretch>
                <a:fillRect/>
              </a:stretch>
            </p:blipFill>
            <p:spPr>
              <a:xfrm>
                <a:off x="7969926" y="4757926"/>
                <a:ext cx="1041480" cy="281160"/>
              </a:xfrm>
              <a:prstGeom prst="rect">
                <a:avLst/>
              </a:prstGeom>
            </p:spPr>
          </p:pic>
        </mc:Fallback>
      </mc:AlternateContent>
      <p:grpSp>
        <p:nvGrpSpPr>
          <p:cNvPr id="39" name="Group 38">
            <a:extLst>
              <a:ext uri="{FF2B5EF4-FFF2-40B4-BE49-F238E27FC236}">
                <a16:creationId xmlns:a16="http://schemas.microsoft.com/office/drawing/2014/main" id="{3C6434BC-F1C0-1150-08CB-43A8ED24C4B5}"/>
              </a:ext>
            </a:extLst>
          </p:cNvPr>
          <p:cNvGrpSpPr/>
          <p:nvPr/>
        </p:nvGrpSpPr>
        <p:grpSpPr>
          <a:xfrm>
            <a:off x="8098086" y="4888246"/>
            <a:ext cx="911160" cy="165960"/>
            <a:chOff x="8098086" y="4888246"/>
            <a:chExt cx="911160" cy="165960"/>
          </a:xfrm>
        </p:grpSpPr>
        <mc:AlternateContent xmlns:mc="http://schemas.openxmlformats.org/markup-compatibility/2006">
          <mc:Choice xmlns:p14="http://schemas.microsoft.com/office/powerpoint/2010/main" Requires="p14">
            <p:contentPart p14:bwMode="auto" r:id="rId5">
              <p14:nvContentPartPr>
                <p14:cNvPr id="36" name="Ink 35">
                  <a:extLst>
                    <a:ext uri="{FF2B5EF4-FFF2-40B4-BE49-F238E27FC236}">
                      <a16:creationId xmlns:a16="http://schemas.microsoft.com/office/drawing/2014/main" id="{61FDB2AD-F2E2-B9E1-38CA-E878ABFD91DB}"/>
                    </a:ext>
                  </a:extLst>
                </p14:cNvPr>
                <p14:cNvContentPartPr/>
                <p14:nvPr/>
              </p14:nvContentPartPr>
              <p14:xfrm>
                <a:off x="8098086" y="4888246"/>
                <a:ext cx="911160" cy="165960"/>
              </p14:xfrm>
            </p:contentPart>
          </mc:Choice>
          <mc:Fallback>
            <p:pic>
              <p:nvPicPr>
                <p:cNvPr id="36" name="Ink 35">
                  <a:extLst>
                    <a:ext uri="{FF2B5EF4-FFF2-40B4-BE49-F238E27FC236}">
                      <a16:creationId xmlns:a16="http://schemas.microsoft.com/office/drawing/2014/main" id="{61FDB2AD-F2E2-B9E1-38CA-E878ABFD91DB}"/>
                    </a:ext>
                  </a:extLst>
                </p:cNvPr>
                <p:cNvPicPr/>
                <p:nvPr/>
              </p:nvPicPr>
              <p:blipFill>
                <a:blip r:embed="rId6"/>
                <a:stretch>
                  <a:fillRect/>
                </a:stretch>
              </p:blipFill>
              <p:spPr>
                <a:xfrm>
                  <a:off x="8035446" y="4825246"/>
                  <a:ext cx="1036800" cy="2916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37" name="Ink 36">
                  <a:extLst>
                    <a:ext uri="{FF2B5EF4-FFF2-40B4-BE49-F238E27FC236}">
                      <a16:creationId xmlns:a16="http://schemas.microsoft.com/office/drawing/2014/main" id="{D1767D05-3C97-D8DD-52B7-5142E9157085}"/>
                    </a:ext>
                  </a:extLst>
                </p14:cNvPr>
                <p14:cNvContentPartPr/>
                <p14:nvPr/>
              </p14:nvContentPartPr>
              <p14:xfrm>
                <a:off x="8966046" y="5041246"/>
                <a:ext cx="360" cy="360"/>
              </p14:xfrm>
            </p:contentPart>
          </mc:Choice>
          <mc:Fallback>
            <p:pic>
              <p:nvPicPr>
                <p:cNvPr id="37" name="Ink 36">
                  <a:extLst>
                    <a:ext uri="{FF2B5EF4-FFF2-40B4-BE49-F238E27FC236}">
                      <a16:creationId xmlns:a16="http://schemas.microsoft.com/office/drawing/2014/main" id="{D1767D05-3C97-D8DD-52B7-5142E9157085}"/>
                    </a:ext>
                  </a:extLst>
                </p:cNvPr>
                <p:cNvPicPr/>
                <p:nvPr/>
              </p:nvPicPr>
              <p:blipFill>
                <a:blip r:embed="rId8"/>
                <a:stretch>
                  <a:fillRect/>
                </a:stretch>
              </p:blipFill>
              <p:spPr>
                <a:xfrm>
                  <a:off x="8903406" y="4978246"/>
                  <a:ext cx="126000" cy="126000"/>
                </a:xfrm>
                <a:prstGeom prst="rect">
                  <a:avLst/>
                </a:prstGeom>
              </p:spPr>
            </p:pic>
          </mc:Fallback>
        </mc:AlternateContent>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6119" y="440903"/>
            <a:ext cx="8151763" cy="352946"/>
          </a:xfrm>
          <a:prstGeom prst="rect">
            <a:avLst/>
          </a:prstGeom>
          <a:noFill/>
          <a:ln/>
        </p:spPr>
        <p:txBody>
          <a:bodyPr wrap="none" lIns="0" tIns="0" rIns="0" bIns="0" rtlCol="0" anchor="t"/>
          <a:lstStyle/>
          <a:p>
            <a:pPr marL="0" indent="0" algn="l">
              <a:lnSpc>
                <a:spcPct val="104000"/>
              </a:lnSpc>
              <a:buNone/>
            </a:pPr>
            <a:r>
              <a:rPr lang="en-US" sz="2200" dirty="0">
                <a:solidFill>
                  <a:srgbClr val="0C0D0F"/>
                </a:solidFill>
                <a:latin typeface="Inter" pitchFamily="34" charset="0"/>
                <a:ea typeface="Inter" pitchFamily="34" charset="-122"/>
                <a:cs typeface="Inter" pitchFamily="34" charset="-120"/>
              </a:rPr>
              <a:t>Functional Modules</a:t>
            </a:r>
            <a:endParaRPr lang="en-US" sz="2200" dirty="0"/>
          </a:p>
        </p:txBody>
      </p:sp>
      <p:sp>
        <p:nvSpPr>
          <p:cNvPr id="3" name="Text 1"/>
          <p:cNvSpPr/>
          <p:nvPr/>
        </p:nvSpPr>
        <p:spPr>
          <a:xfrm>
            <a:off x="496119" y="973857"/>
            <a:ext cx="8608963" cy="162371"/>
          </a:xfrm>
          <a:prstGeom prst="rect">
            <a:avLst/>
          </a:prstGeom>
          <a:noFill/>
          <a:ln/>
        </p:spPr>
        <p:txBody>
          <a:bodyPr wrap="none" lIns="0" tIns="0" rIns="0" bIns="0" rtlCol="0" anchor="t"/>
          <a:lstStyle/>
          <a:p>
            <a:pPr marL="0" indent="0" algn="l">
              <a:lnSpc>
                <a:spcPct val="120000"/>
              </a:lnSpc>
              <a:buNone/>
            </a:pPr>
            <a:r>
              <a:rPr lang="en-US" sz="850" dirty="0">
                <a:solidFill>
                  <a:srgbClr val="55575A"/>
                </a:solidFill>
                <a:latin typeface="Manrope" pitchFamily="34" charset="0"/>
                <a:ea typeface="Manrope" pitchFamily="34" charset="-122"/>
                <a:cs typeface="Manrope" pitchFamily="34" charset="-120"/>
              </a:rPr>
              <a:t>Eight modules cover the full product lifecycle with clear separation of concerns.</a:t>
            </a:r>
            <a:endParaRPr lang="en-US" sz="85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1237431"/>
            <a:ext cx="225921" cy="225921"/>
          </a:xfrm>
          <a:prstGeom prst="rect">
            <a:avLst/>
          </a:prstGeom>
        </p:spPr>
      </p:pic>
      <p:sp>
        <p:nvSpPr>
          <p:cNvPr id="5" name="Text 2"/>
          <p:cNvSpPr/>
          <p:nvPr/>
        </p:nvSpPr>
        <p:spPr>
          <a:xfrm>
            <a:off x="496119" y="1575867"/>
            <a:ext cx="4019624" cy="176510"/>
          </a:xfrm>
          <a:prstGeom prst="rect">
            <a:avLst/>
          </a:prstGeom>
          <a:noFill/>
          <a:ln/>
        </p:spPr>
        <p:txBody>
          <a:bodyPr wrap="none" lIns="0" tIns="0" rIns="0" bIns="0" rtlCol="0" anchor="t"/>
          <a:lstStyle/>
          <a:p>
            <a:pPr marL="0" indent="0" algn="l">
              <a:lnSpc>
                <a:spcPct val="104000"/>
              </a:lnSpc>
              <a:buNone/>
            </a:pPr>
            <a:r>
              <a:rPr lang="en-US" sz="1100" dirty="0">
                <a:solidFill>
                  <a:srgbClr val="55575A"/>
                </a:solidFill>
                <a:latin typeface="Inter" pitchFamily="34" charset="0"/>
                <a:ea typeface="Inter" pitchFamily="34" charset="-122"/>
                <a:cs typeface="Inter" pitchFamily="34" charset="-120"/>
              </a:rPr>
              <a:t>Product Management</a:t>
            </a:r>
            <a:endParaRPr lang="en-US" sz="1100" dirty="0"/>
          </a:p>
        </p:txBody>
      </p:sp>
      <p:sp>
        <p:nvSpPr>
          <p:cNvPr id="6" name="Text 3"/>
          <p:cNvSpPr/>
          <p:nvPr/>
        </p:nvSpPr>
        <p:spPr>
          <a:xfrm>
            <a:off x="496119" y="1806327"/>
            <a:ext cx="4019624" cy="162371"/>
          </a:xfrm>
          <a:prstGeom prst="rect">
            <a:avLst/>
          </a:prstGeom>
          <a:noFill/>
          <a:ln/>
        </p:spPr>
        <p:txBody>
          <a:bodyPr wrap="none" lIns="0" tIns="0" rIns="0" bIns="0" rtlCol="0" anchor="t"/>
          <a:lstStyle/>
          <a:p>
            <a:pPr marL="0" indent="0" algn="l">
              <a:lnSpc>
                <a:spcPct val="120000"/>
              </a:lnSpc>
              <a:buNone/>
            </a:pPr>
            <a:r>
              <a:rPr lang="en-US" sz="850" dirty="0">
                <a:solidFill>
                  <a:srgbClr val="55575A"/>
                </a:solidFill>
                <a:latin typeface="Manrope" pitchFamily="34" charset="0"/>
                <a:ea typeface="Manrope" pitchFamily="34" charset="-122"/>
                <a:cs typeface="Manrope" pitchFamily="34" charset="-120"/>
              </a:rPr>
              <a:t>CRUD operations for grocery products with semantic key validation.</a:t>
            </a:r>
            <a:endParaRPr lang="en-US" sz="85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28257" y="1237431"/>
            <a:ext cx="225921" cy="225921"/>
          </a:xfrm>
          <a:prstGeom prst="rect">
            <a:avLst/>
          </a:prstGeom>
        </p:spPr>
      </p:pic>
      <p:sp>
        <p:nvSpPr>
          <p:cNvPr id="8" name="Text 4"/>
          <p:cNvSpPr/>
          <p:nvPr/>
        </p:nvSpPr>
        <p:spPr>
          <a:xfrm>
            <a:off x="4628257" y="1575867"/>
            <a:ext cx="4019624" cy="176510"/>
          </a:xfrm>
          <a:prstGeom prst="rect">
            <a:avLst/>
          </a:prstGeom>
          <a:noFill/>
          <a:ln/>
        </p:spPr>
        <p:txBody>
          <a:bodyPr wrap="none" lIns="0" tIns="0" rIns="0" bIns="0" rtlCol="0" anchor="t"/>
          <a:lstStyle/>
          <a:p>
            <a:pPr marL="0" indent="0" algn="l">
              <a:lnSpc>
                <a:spcPct val="104000"/>
              </a:lnSpc>
              <a:buNone/>
            </a:pPr>
            <a:r>
              <a:rPr lang="en-US" sz="1100" dirty="0">
                <a:solidFill>
                  <a:srgbClr val="55575A"/>
                </a:solidFill>
                <a:latin typeface="Inter" pitchFamily="34" charset="0"/>
                <a:ea typeface="Inter" pitchFamily="34" charset="-122"/>
                <a:cs typeface="Inter" pitchFamily="34" charset="-120"/>
              </a:rPr>
              <a:t>Store Management</a:t>
            </a:r>
            <a:endParaRPr lang="en-US" sz="1100" dirty="0"/>
          </a:p>
        </p:txBody>
      </p:sp>
      <p:sp>
        <p:nvSpPr>
          <p:cNvPr id="9" name="Text 5"/>
          <p:cNvSpPr/>
          <p:nvPr/>
        </p:nvSpPr>
        <p:spPr>
          <a:xfrm>
            <a:off x="4628257" y="1806327"/>
            <a:ext cx="4019624" cy="162371"/>
          </a:xfrm>
          <a:prstGeom prst="rect">
            <a:avLst/>
          </a:prstGeom>
          <a:noFill/>
          <a:ln/>
        </p:spPr>
        <p:txBody>
          <a:bodyPr wrap="none" lIns="0" tIns="0" rIns="0" bIns="0" rtlCol="0" anchor="t"/>
          <a:lstStyle/>
          <a:p>
            <a:pPr marL="0" indent="0" algn="l">
              <a:lnSpc>
                <a:spcPct val="120000"/>
              </a:lnSpc>
              <a:buNone/>
            </a:pPr>
            <a:r>
              <a:rPr lang="en-US" sz="850" dirty="0">
                <a:solidFill>
                  <a:srgbClr val="55575A"/>
                </a:solidFill>
                <a:latin typeface="Manrope" pitchFamily="34" charset="0"/>
                <a:ea typeface="Manrope" pitchFamily="34" charset="-122"/>
                <a:cs typeface="Manrope" pitchFamily="34" charset="-120"/>
              </a:rPr>
              <a:t>Unique Store IDs with value help for product association.</a:t>
            </a:r>
            <a:endParaRPr lang="en-US" sz="85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6119" y="2148706"/>
            <a:ext cx="225921" cy="225921"/>
          </a:xfrm>
          <a:prstGeom prst="rect">
            <a:avLst/>
          </a:prstGeom>
        </p:spPr>
      </p:pic>
      <p:sp>
        <p:nvSpPr>
          <p:cNvPr id="11" name="Text 6"/>
          <p:cNvSpPr/>
          <p:nvPr/>
        </p:nvSpPr>
        <p:spPr>
          <a:xfrm>
            <a:off x="496119" y="2487141"/>
            <a:ext cx="4019624" cy="176510"/>
          </a:xfrm>
          <a:prstGeom prst="rect">
            <a:avLst/>
          </a:prstGeom>
          <a:noFill/>
          <a:ln/>
        </p:spPr>
        <p:txBody>
          <a:bodyPr wrap="none" lIns="0" tIns="0" rIns="0" bIns="0" rtlCol="0" anchor="t"/>
          <a:lstStyle/>
          <a:p>
            <a:pPr marL="0" indent="0" algn="l">
              <a:lnSpc>
                <a:spcPct val="104000"/>
              </a:lnSpc>
              <a:buNone/>
            </a:pPr>
            <a:r>
              <a:rPr lang="en-US" sz="1100" dirty="0">
                <a:solidFill>
                  <a:srgbClr val="55575A"/>
                </a:solidFill>
                <a:latin typeface="Inter" pitchFamily="34" charset="0"/>
                <a:ea typeface="Inter" pitchFamily="34" charset="-122"/>
                <a:cs typeface="Inter" pitchFamily="34" charset="-120"/>
              </a:rPr>
              <a:t>Category Management</a:t>
            </a:r>
            <a:endParaRPr lang="en-US" sz="1100" dirty="0"/>
          </a:p>
        </p:txBody>
      </p:sp>
      <p:sp>
        <p:nvSpPr>
          <p:cNvPr id="12" name="Text 7"/>
          <p:cNvSpPr/>
          <p:nvPr/>
        </p:nvSpPr>
        <p:spPr>
          <a:xfrm>
            <a:off x="496119" y="2717602"/>
            <a:ext cx="4019624" cy="162371"/>
          </a:xfrm>
          <a:prstGeom prst="rect">
            <a:avLst/>
          </a:prstGeom>
          <a:noFill/>
          <a:ln/>
        </p:spPr>
        <p:txBody>
          <a:bodyPr wrap="none" lIns="0" tIns="0" rIns="0" bIns="0" rtlCol="0" anchor="t"/>
          <a:lstStyle/>
          <a:p>
            <a:pPr marL="0" indent="0" algn="l">
              <a:lnSpc>
                <a:spcPct val="120000"/>
              </a:lnSpc>
              <a:buNone/>
            </a:pPr>
            <a:r>
              <a:rPr lang="en-US" sz="850" dirty="0">
                <a:solidFill>
                  <a:srgbClr val="55575A"/>
                </a:solidFill>
                <a:latin typeface="Manrope" pitchFamily="34" charset="0"/>
                <a:ea typeface="Manrope" pitchFamily="34" charset="-122"/>
                <a:cs typeface="Manrope" pitchFamily="34" charset="-120"/>
              </a:rPr>
              <a:t>Predefined categories with value help for product assignment.</a:t>
            </a:r>
            <a:endParaRPr lang="en-US" sz="850" dirty="0"/>
          </a:p>
        </p:txBody>
      </p:sp>
      <p:pic>
        <p:nvPicPr>
          <p:cNvPr id="1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28257" y="2148706"/>
            <a:ext cx="225921" cy="225921"/>
          </a:xfrm>
          <a:prstGeom prst="rect">
            <a:avLst/>
          </a:prstGeom>
        </p:spPr>
      </p:pic>
      <p:sp>
        <p:nvSpPr>
          <p:cNvPr id="14" name="Text 8"/>
          <p:cNvSpPr/>
          <p:nvPr/>
        </p:nvSpPr>
        <p:spPr>
          <a:xfrm>
            <a:off x="4628257" y="2487141"/>
            <a:ext cx="4019624" cy="176510"/>
          </a:xfrm>
          <a:prstGeom prst="rect">
            <a:avLst/>
          </a:prstGeom>
          <a:noFill/>
          <a:ln/>
        </p:spPr>
        <p:txBody>
          <a:bodyPr wrap="none" lIns="0" tIns="0" rIns="0" bIns="0" rtlCol="0" anchor="t"/>
          <a:lstStyle/>
          <a:p>
            <a:pPr marL="0" indent="0" algn="l">
              <a:lnSpc>
                <a:spcPct val="104000"/>
              </a:lnSpc>
              <a:buNone/>
            </a:pPr>
            <a:r>
              <a:rPr lang="en-US" sz="1100" dirty="0">
                <a:solidFill>
                  <a:srgbClr val="55575A"/>
                </a:solidFill>
                <a:latin typeface="Inter" pitchFamily="34" charset="0"/>
                <a:ea typeface="Inter" pitchFamily="34" charset="-122"/>
                <a:cs typeface="Inter" pitchFamily="34" charset="-120"/>
              </a:rPr>
              <a:t>Product Update</a:t>
            </a:r>
            <a:endParaRPr lang="en-US" sz="1100" dirty="0"/>
          </a:p>
        </p:txBody>
      </p:sp>
      <p:sp>
        <p:nvSpPr>
          <p:cNvPr id="15" name="Text 9"/>
          <p:cNvSpPr/>
          <p:nvPr/>
        </p:nvSpPr>
        <p:spPr>
          <a:xfrm>
            <a:off x="4628257" y="2717602"/>
            <a:ext cx="4019624" cy="162371"/>
          </a:xfrm>
          <a:prstGeom prst="rect">
            <a:avLst/>
          </a:prstGeom>
          <a:noFill/>
          <a:ln/>
        </p:spPr>
        <p:txBody>
          <a:bodyPr wrap="none" lIns="0" tIns="0" rIns="0" bIns="0" rtlCol="0" anchor="t"/>
          <a:lstStyle/>
          <a:p>
            <a:pPr marL="0" indent="0" algn="l">
              <a:lnSpc>
                <a:spcPct val="120000"/>
              </a:lnSpc>
              <a:buNone/>
            </a:pPr>
            <a:r>
              <a:rPr lang="en-US" sz="850" dirty="0">
                <a:solidFill>
                  <a:srgbClr val="55575A"/>
                </a:solidFill>
                <a:latin typeface="Manrope" pitchFamily="34" charset="0"/>
                <a:ea typeface="Manrope" pitchFamily="34" charset="-122"/>
                <a:cs typeface="Manrope" pitchFamily="34" charset="-120"/>
              </a:rPr>
              <a:t>Edit product details with draft-based transactional safety.</a:t>
            </a:r>
            <a:endParaRPr lang="en-US" sz="850" dirty="0"/>
          </a:p>
        </p:txBody>
      </p:sp>
      <p:pic>
        <p:nvPicPr>
          <p:cNvPr id="1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96119" y="3059981"/>
            <a:ext cx="225921" cy="225921"/>
          </a:xfrm>
          <a:prstGeom prst="rect">
            <a:avLst/>
          </a:prstGeom>
        </p:spPr>
      </p:pic>
      <p:sp>
        <p:nvSpPr>
          <p:cNvPr id="17" name="Text 10"/>
          <p:cNvSpPr/>
          <p:nvPr/>
        </p:nvSpPr>
        <p:spPr>
          <a:xfrm>
            <a:off x="496119" y="3398416"/>
            <a:ext cx="4019624" cy="176510"/>
          </a:xfrm>
          <a:prstGeom prst="rect">
            <a:avLst/>
          </a:prstGeom>
          <a:noFill/>
          <a:ln/>
        </p:spPr>
        <p:txBody>
          <a:bodyPr wrap="none" lIns="0" tIns="0" rIns="0" bIns="0" rtlCol="0" anchor="t"/>
          <a:lstStyle/>
          <a:p>
            <a:pPr marL="0" indent="0" algn="l">
              <a:lnSpc>
                <a:spcPct val="104000"/>
              </a:lnSpc>
              <a:buNone/>
            </a:pPr>
            <a:r>
              <a:rPr lang="en-US" sz="1100" dirty="0">
                <a:solidFill>
                  <a:srgbClr val="55575A"/>
                </a:solidFill>
                <a:latin typeface="Inter" pitchFamily="34" charset="0"/>
                <a:ea typeface="Inter" pitchFamily="34" charset="-122"/>
                <a:cs typeface="Inter" pitchFamily="34" charset="-120"/>
              </a:rPr>
              <a:t>Search Module</a:t>
            </a:r>
            <a:endParaRPr lang="en-US" sz="1100" dirty="0"/>
          </a:p>
        </p:txBody>
      </p:sp>
      <p:sp>
        <p:nvSpPr>
          <p:cNvPr id="18" name="Text 11"/>
          <p:cNvSpPr/>
          <p:nvPr/>
        </p:nvSpPr>
        <p:spPr>
          <a:xfrm>
            <a:off x="496119" y="3628876"/>
            <a:ext cx="4019624" cy="162371"/>
          </a:xfrm>
          <a:prstGeom prst="rect">
            <a:avLst/>
          </a:prstGeom>
          <a:noFill/>
          <a:ln/>
        </p:spPr>
        <p:txBody>
          <a:bodyPr wrap="none" lIns="0" tIns="0" rIns="0" bIns="0" rtlCol="0" anchor="t"/>
          <a:lstStyle/>
          <a:p>
            <a:pPr marL="0" indent="0" algn="l">
              <a:lnSpc>
                <a:spcPct val="120000"/>
              </a:lnSpc>
              <a:buNone/>
            </a:pPr>
            <a:r>
              <a:rPr lang="en-US" sz="850" dirty="0">
                <a:solidFill>
                  <a:srgbClr val="55575A"/>
                </a:solidFill>
                <a:latin typeface="Manrope" pitchFamily="34" charset="0"/>
                <a:ea typeface="Manrope" pitchFamily="34" charset="-122"/>
                <a:cs typeface="Manrope" pitchFamily="34" charset="-120"/>
              </a:rPr>
              <a:t>Locate products by ID, name, store, or category.</a:t>
            </a:r>
            <a:endParaRPr lang="en-US" sz="850" dirty="0"/>
          </a:p>
        </p:txBody>
      </p:sp>
      <p:pic>
        <p:nvPicPr>
          <p:cNvPr id="19"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628257" y="3059981"/>
            <a:ext cx="225921" cy="225921"/>
          </a:xfrm>
          <a:prstGeom prst="rect">
            <a:avLst/>
          </a:prstGeom>
        </p:spPr>
      </p:pic>
      <p:sp>
        <p:nvSpPr>
          <p:cNvPr id="20" name="Text 12"/>
          <p:cNvSpPr/>
          <p:nvPr/>
        </p:nvSpPr>
        <p:spPr>
          <a:xfrm>
            <a:off x="4628257" y="3398416"/>
            <a:ext cx="4019624" cy="176510"/>
          </a:xfrm>
          <a:prstGeom prst="rect">
            <a:avLst/>
          </a:prstGeom>
          <a:noFill/>
          <a:ln/>
        </p:spPr>
        <p:txBody>
          <a:bodyPr wrap="none" lIns="0" tIns="0" rIns="0" bIns="0" rtlCol="0" anchor="t"/>
          <a:lstStyle/>
          <a:p>
            <a:pPr marL="0" indent="0" algn="l">
              <a:lnSpc>
                <a:spcPct val="104000"/>
              </a:lnSpc>
              <a:buNone/>
            </a:pPr>
            <a:r>
              <a:rPr lang="en-US" sz="1100" dirty="0">
                <a:solidFill>
                  <a:srgbClr val="55575A"/>
                </a:solidFill>
                <a:latin typeface="Inter" pitchFamily="34" charset="0"/>
                <a:ea typeface="Inter" pitchFamily="34" charset="-122"/>
                <a:cs typeface="Inter" pitchFamily="34" charset="-120"/>
              </a:rPr>
              <a:t>Filter &amp; Sort</a:t>
            </a:r>
            <a:endParaRPr lang="en-US" sz="1100" dirty="0"/>
          </a:p>
        </p:txBody>
      </p:sp>
      <p:sp>
        <p:nvSpPr>
          <p:cNvPr id="21" name="Text 13"/>
          <p:cNvSpPr/>
          <p:nvPr/>
        </p:nvSpPr>
        <p:spPr>
          <a:xfrm>
            <a:off x="4628257" y="3628876"/>
            <a:ext cx="4019624" cy="162371"/>
          </a:xfrm>
          <a:prstGeom prst="rect">
            <a:avLst/>
          </a:prstGeom>
          <a:noFill/>
          <a:ln/>
        </p:spPr>
        <p:txBody>
          <a:bodyPr wrap="none" lIns="0" tIns="0" rIns="0" bIns="0" rtlCol="0" anchor="t"/>
          <a:lstStyle/>
          <a:p>
            <a:pPr marL="0" indent="0" algn="l">
              <a:lnSpc>
                <a:spcPct val="120000"/>
              </a:lnSpc>
              <a:buNone/>
            </a:pPr>
            <a:r>
              <a:rPr lang="en-US" sz="850" dirty="0">
                <a:solidFill>
                  <a:srgbClr val="55575A"/>
                </a:solidFill>
                <a:latin typeface="Manrope" pitchFamily="34" charset="0"/>
                <a:ea typeface="Manrope" pitchFamily="34" charset="-122"/>
                <a:cs typeface="Manrope" pitchFamily="34" charset="-120"/>
              </a:rPr>
              <a:t>Filter by store or category; sort by price or name.</a:t>
            </a:r>
            <a:endParaRPr lang="en-US" sz="850" dirty="0"/>
          </a:p>
        </p:txBody>
      </p:sp>
      <p:pic>
        <p:nvPicPr>
          <p:cNvPr id="22"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96119" y="3971255"/>
            <a:ext cx="225921" cy="225921"/>
          </a:xfrm>
          <a:prstGeom prst="rect">
            <a:avLst/>
          </a:prstGeom>
        </p:spPr>
      </p:pic>
      <p:sp>
        <p:nvSpPr>
          <p:cNvPr id="23" name="Text 14"/>
          <p:cNvSpPr/>
          <p:nvPr/>
        </p:nvSpPr>
        <p:spPr>
          <a:xfrm>
            <a:off x="496119" y="4309690"/>
            <a:ext cx="4019624" cy="176510"/>
          </a:xfrm>
          <a:prstGeom prst="rect">
            <a:avLst/>
          </a:prstGeom>
          <a:noFill/>
          <a:ln/>
        </p:spPr>
        <p:txBody>
          <a:bodyPr wrap="none" lIns="0" tIns="0" rIns="0" bIns="0" rtlCol="0" anchor="t"/>
          <a:lstStyle/>
          <a:p>
            <a:pPr marL="0" indent="0" algn="l">
              <a:lnSpc>
                <a:spcPct val="104000"/>
              </a:lnSpc>
              <a:buNone/>
            </a:pPr>
            <a:r>
              <a:rPr lang="en-US" sz="1100" dirty="0">
                <a:solidFill>
                  <a:srgbClr val="55575A"/>
                </a:solidFill>
                <a:latin typeface="Inter" pitchFamily="34" charset="0"/>
                <a:ea typeface="Inter" pitchFamily="34" charset="-122"/>
                <a:cs typeface="Inter" pitchFamily="34" charset="-120"/>
              </a:rPr>
              <a:t>Draft Management</a:t>
            </a:r>
            <a:endParaRPr lang="en-US" sz="1100" dirty="0"/>
          </a:p>
        </p:txBody>
      </p:sp>
      <p:sp>
        <p:nvSpPr>
          <p:cNvPr id="24" name="Text 15"/>
          <p:cNvSpPr/>
          <p:nvPr/>
        </p:nvSpPr>
        <p:spPr>
          <a:xfrm>
            <a:off x="496119" y="4540151"/>
            <a:ext cx="4019624" cy="162371"/>
          </a:xfrm>
          <a:prstGeom prst="rect">
            <a:avLst/>
          </a:prstGeom>
          <a:noFill/>
          <a:ln/>
        </p:spPr>
        <p:txBody>
          <a:bodyPr wrap="none" lIns="0" tIns="0" rIns="0" bIns="0" rtlCol="0" anchor="t"/>
          <a:lstStyle/>
          <a:p>
            <a:pPr marL="0" indent="0" algn="l">
              <a:lnSpc>
                <a:spcPct val="120000"/>
              </a:lnSpc>
              <a:buNone/>
            </a:pPr>
            <a:r>
              <a:rPr lang="en-US" sz="850" dirty="0">
                <a:solidFill>
                  <a:srgbClr val="55575A"/>
                </a:solidFill>
                <a:latin typeface="Manrope" pitchFamily="34" charset="0"/>
                <a:ea typeface="Manrope" pitchFamily="34" charset="-122"/>
                <a:cs typeface="Manrope" pitchFamily="34" charset="-120"/>
              </a:rPr>
              <a:t>Save incomplete work; activate or discard before commit.</a:t>
            </a:r>
            <a:endParaRPr lang="en-US" sz="850" dirty="0"/>
          </a:p>
        </p:txBody>
      </p:sp>
      <p:pic>
        <p:nvPicPr>
          <p:cNvPr id="25"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628257" y="3971255"/>
            <a:ext cx="225921" cy="225921"/>
          </a:xfrm>
          <a:prstGeom prst="rect">
            <a:avLst/>
          </a:prstGeom>
        </p:spPr>
      </p:pic>
      <p:sp>
        <p:nvSpPr>
          <p:cNvPr id="26" name="Text 16"/>
          <p:cNvSpPr/>
          <p:nvPr/>
        </p:nvSpPr>
        <p:spPr>
          <a:xfrm>
            <a:off x="4628257" y="4309690"/>
            <a:ext cx="4019624" cy="176510"/>
          </a:xfrm>
          <a:prstGeom prst="rect">
            <a:avLst/>
          </a:prstGeom>
          <a:noFill/>
          <a:ln/>
        </p:spPr>
        <p:txBody>
          <a:bodyPr wrap="none" lIns="0" tIns="0" rIns="0" bIns="0" rtlCol="0" anchor="t"/>
          <a:lstStyle/>
          <a:p>
            <a:pPr marL="0" indent="0" algn="l">
              <a:lnSpc>
                <a:spcPct val="104000"/>
              </a:lnSpc>
              <a:buNone/>
            </a:pPr>
            <a:r>
              <a:rPr lang="en-US" sz="1100" dirty="0">
                <a:solidFill>
                  <a:srgbClr val="55575A"/>
                </a:solidFill>
                <a:latin typeface="Inter" pitchFamily="34" charset="0"/>
                <a:ea typeface="Inter" pitchFamily="34" charset="-122"/>
                <a:cs typeface="Inter" pitchFamily="34" charset="-120"/>
              </a:rPr>
              <a:t>Validation &amp; Rules</a:t>
            </a:r>
            <a:endParaRPr lang="en-US" sz="1100" dirty="0"/>
          </a:p>
        </p:txBody>
      </p:sp>
      <p:sp>
        <p:nvSpPr>
          <p:cNvPr id="27" name="Text 17"/>
          <p:cNvSpPr/>
          <p:nvPr/>
        </p:nvSpPr>
        <p:spPr>
          <a:xfrm>
            <a:off x="4628257" y="4540151"/>
            <a:ext cx="4019624" cy="162371"/>
          </a:xfrm>
          <a:prstGeom prst="rect">
            <a:avLst/>
          </a:prstGeom>
          <a:noFill/>
          <a:ln/>
        </p:spPr>
        <p:txBody>
          <a:bodyPr wrap="none" lIns="0" tIns="0" rIns="0" bIns="0" rtlCol="0" anchor="t"/>
          <a:lstStyle/>
          <a:p>
            <a:pPr marL="0" indent="0" algn="l">
              <a:lnSpc>
                <a:spcPct val="120000"/>
              </a:lnSpc>
              <a:buNone/>
            </a:pPr>
            <a:r>
              <a:rPr lang="en-US" sz="850" dirty="0">
                <a:solidFill>
                  <a:srgbClr val="55575A"/>
                </a:solidFill>
                <a:latin typeface="Manrope" pitchFamily="34" charset="0"/>
                <a:ea typeface="Manrope" pitchFamily="34" charset="-122"/>
                <a:cs typeface="Manrope" pitchFamily="34" charset="-120"/>
              </a:rPr>
              <a:t>Enforce field rules, price checks, and currency validation.</a:t>
            </a:r>
            <a:endParaRPr lang="en-US" sz="850" dirty="0"/>
          </a:p>
        </p:txBody>
      </p:sp>
      <mc:AlternateContent xmlns:mc="http://schemas.openxmlformats.org/markup-compatibility/2006">
        <mc:Choice xmlns:p14="http://schemas.microsoft.com/office/powerpoint/2010/main" Requires="p14">
          <p:contentPart p14:bwMode="auto" r:id="rId11">
            <p14:nvContentPartPr>
              <p14:cNvPr id="31" name="Ink 30">
                <a:extLst>
                  <a:ext uri="{FF2B5EF4-FFF2-40B4-BE49-F238E27FC236}">
                    <a16:creationId xmlns:a16="http://schemas.microsoft.com/office/drawing/2014/main" id="{AFA3DA67-D441-9DB8-FF95-EF500FBEBA5F}"/>
                  </a:ext>
                </a:extLst>
              </p14:cNvPr>
              <p14:cNvContentPartPr/>
              <p14:nvPr/>
            </p14:nvContentPartPr>
            <p14:xfrm>
              <a:off x="8158206" y="4883206"/>
              <a:ext cx="828720" cy="96480"/>
            </p14:xfrm>
          </p:contentPart>
        </mc:Choice>
        <mc:Fallback>
          <p:pic>
            <p:nvPicPr>
              <p:cNvPr id="31" name="Ink 30">
                <a:extLst>
                  <a:ext uri="{FF2B5EF4-FFF2-40B4-BE49-F238E27FC236}">
                    <a16:creationId xmlns:a16="http://schemas.microsoft.com/office/drawing/2014/main" id="{AFA3DA67-D441-9DB8-FF95-EF500FBEBA5F}"/>
                  </a:ext>
                </a:extLst>
              </p:cNvPr>
              <p:cNvPicPr/>
              <p:nvPr/>
            </p:nvPicPr>
            <p:blipFill>
              <a:blip r:embed="rId12"/>
              <a:stretch>
                <a:fillRect/>
              </a:stretch>
            </p:blipFill>
            <p:spPr>
              <a:xfrm>
                <a:off x="8095206" y="4820206"/>
                <a:ext cx="954360" cy="22212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32" name="Ink 31">
                <a:extLst>
                  <a:ext uri="{FF2B5EF4-FFF2-40B4-BE49-F238E27FC236}">
                    <a16:creationId xmlns:a16="http://schemas.microsoft.com/office/drawing/2014/main" id="{F778E24F-AE2A-7DA2-10BE-EAF8E72D0367}"/>
                  </a:ext>
                </a:extLst>
              </p14:cNvPr>
              <p14:cNvContentPartPr/>
              <p14:nvPr/>
            </p14:nvContentPartPr>
            <p14:xfrm>
              <a:off x="8102406" y="4976806"/>
              <a:ext cx="821520" cy="12600"/>
            </p14:xfrm>
          </p:contentPart>
        </mc:Choice>
        <mc:Fallback>
          <p:pic>
            <p:nvPicPr>
              <p:cNvPr id="32" name="Ink 31">
                <a:extLst>
                  <a:ext uri="{FF2B5EF4-FFF2-40B4-BE49-F238E27FC236}">
                    <a16:creationId xmlns:a16="http://schemas.microsoft.com/office/drawing/2014/main" id="{F778E24F-AE2A-7DA2-10BE-EAF8E72D0367}"/>
                  </a:ext>
                </a:extLst>
              </p:cNvPr>
              <p:cNvPicPr/>
              <p:nvPr/>
            </p:nvPicPr>
            <p:blipFill>
              <a:blip r:embed="rId14"/>
              <a:stretch>
                <a:fillRect/>
              </a:stretch>
            </p:blipFill>
            <p:spPr>
              <a:xfrm>
                <a:off x="8039406" y="4914166"/>
                <a:ext cx="947160" cy="138240"/>
              </a:xfrm>
              <a:prstGeom prst="rect">
                <a:avLst/>
              </a:prstGeom>
            </p:spPr>
          </p:pic>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451321"/>
            <a:ext cx="8151763" cy="442987"/>
          </a:xfrm>
          <a:prstGeom prst="rect">
            <a:avLst/>
          </a:prstGeom>
          <a:noFill/>
          <a:ln/>
        </p:spPr>
        <p:txBody>
          <a:bodyPr wrap="none" lIns="0" tIns="0" rIns="0" bIns="0" rtlCol="0" anchor="t"/>
          <a:lstStyle/>
          <a:p>
            <a:pPr marL="0" indent="0" algn="l">
              <a:lnSpc>
                <a:spcPct val="104000"/>
              </a:lnSpc>
              <a:buNone/>
            </a:pPr>
            <a:r>
              <a:rPr lang="en-US" sz="2750" dirty="0">
                <a:solidFill>
                  <a:srgbClr val="0C0D0F"/>
                </a:solidFill>
                <a:latin typeface="Inter" pitchFamily="34" charset="0"/>
                <a:ea typeface="Inter" pitchFamily="34" charset="-122"/>
                <a:cs typeface="Inter" pitchFamily="34" charset="-120"/>
              </a:rPr>
              <a:t>System Workflow</a:t>
            </a:r>
            <a:endParaRPr lang="en-US" sz="2750" dirty="0"/>
          </a:p>
        </p:txBody>
      </p:sp>
      <p:pic>
        <p:nvPicPr>
          <p:cNvPr id="3" name="Image 0" descr="preencoded.png"/>
          <p:cNvPicPr>
            <a:picLocks noChangeAspect="1"/>
          </p:cNvPicPr>
          <p:nvPr/>
        </p:nvPicPr>
        <p:blipFill>
          <a:blip r:embed="rId3"/>
          <a:stretch>
            <a:fillRect/>
          </a:stretch>
        </p:blipFill>
        <p:spPr>
          <a:xfrm>
            <a:off x="1402407" y="1177826"/>
            <a:ext cx="6339185" cy="2901255"/>
          </a:xfrm>
          <a:prstGeom prst="rect">
            <a:avLst/>
          </a:prstGeom>
        </p:spPr>
      </p:pic>
      <p:sp>
        <p:nvSpPr>
          <p:cNvPr id="4" name="Text 1"/>
          <p:cNvSpPr/>
          <p:nvPr/>
        </p:nvSpPr>
        <p:spPr>
          <a:xfrm>
            <a:off x="6256361" y="3275491"/>
            <a:ext cx="1190142" cy="458531"/>
          </a:xfrm>
          <a:prstGeom prst="rect">
            <a:avLst/>
          </a:prstGeom>
          <a:noFill/>
          <a:ln/>
        </p:spPr>
        <p:txBody>
          <a:bodyPr wrap="square" lIns="0" tIns="0" rIns="0" bIns="0" rtlCol="0" anchor="t">
            <a:normAutofit/>
          </a:bodyPr>
          <a:lstStyle/>
          <a:p>
            <a:pPr marL="0" indent="0" algn="ctr">
              <a:lnSpc>
                <a:spcPct val="104000"/>
              </a:lnSpc>
              <a:buNone/>
            </a:pPr>
            <a:r>
              <a:rPr lang="en-US" sz="1400" dirty="0">
                <a:solidFill>
                  <a:srgbClr val="55575A"/>
                </a:solidFill>
                <a:latin typeface="Inter" pitchFamily="34" charset="0"/>
                <a:ea typeface="Inter" pitchFamily="34" charset="-122"/>
                <a:cs typeface="Inter" pitchFamily="34" charset="-120"/>
              </a:rPr>
              <a:t>Active Commit</a:t>
            </a:r>
            <a:endParaRPr lang="en-US" sz="1400" dirty="0"/>
          </a:p>
        </p:txBody>
      </p:sp>
      <p:sp>
        <p:nvSpPr>
          <p:cNvPr id="5" name="Text 2"/>
          <p:cNvSpPr/>
          <p:nvPr/>
        </p:nvSpPr>
        <p:spPr>
          <a:xfrm>
            <a:off x="4756456" y="3390124"/>
            <a:ext cx="1190143" cy="229265"/>
          </a:xfrm>
          <a:prstGeom prst="rect">
            <a:avLst/>
          </a:prstGeom>
          <a:noFill/>
          <a:ln/>
        </p:spPr>
        <p:txBody>
          <a:bodyPr wrap="none" lIns="0" tIns="0" rIns="0" bIns="0" rtlCol="0" anchor="t"/>
          <a:lstStyle/>
          <a:p>
            <a:pPr marL="0" indent="0" algn="ctr">
              <a:lnSpc>
                <a:spcPct val="104000"/>
              </a:lnSpc>
              <a:buNone/>
            </a:pPr>
            <a:r>
              <a:rPr lang="en-US" sz="1400" dirty="0">
                <a:solidFill>
                  <a:srgbClr val="55575A"/>
                </a:solidFill>
                <a:latin typeface="Inter" pitchFamily="34" charset="0"/>
                <a:ea typeface="Inter" pitchFamily="34" charset="-122"/>
                <a:cs typeface="Inter" pitchFamily="34" charset="-120"/>
              </a:rPr>
              <a:t>Draft Store</a:t>
            </a:r>
            <a:endParaRPr lang="en-US" sz="1400" dirty="0"/>
          </a:p>
        </p:txBody>
      </p:sp>
      <p:sp>
        <p:nvSpPr>
          <p:cNvPr id="6" name="Text 3"/>
          <p:cNvSpPr/>
          <p:nvPr/>
        </p:nvSpPr>
        <p:spPr>
          <a:xfrm>
            <a:off x="3264702" y="3390124"/>
            <a:ext cx="1190142" cy="229265"/>
          </a:xfrm>
          <a:prstGeom prst="rect">
            <a:avLst/>
          </a:prstGeom>
          <a:noFill/>
          <a:ln/>
        </p:spPr>
        <p:txBody>
          <a:bodyPr wrap="none" lIns="0" tIns="0" rIns="0" bIns="0" rtlCol="0" anchor="t"/>
          <a:lstStyle/>
          <a:p>
            <a:pPr marL="0" indent="0" algn="ctr">
              <a:lnSpc>
                <a:spcPct val="104000"/>
              </a:lnSpc>
              <a:buNone/>
            </a:pPr>
            <a:r>
              <a:rPr lang="en-US" sz="1400" dirty="0">
                <a:solidFill>
                  <a:srgbClr val="55575A"/>
                </a:solidFill>
                <a:latin typeface="Inter" pitchFamily="34" charset="0"/>
                <a:ea typeface="Inter" pitchFamily="34" charset="-122"/>
                <a:cs typeface="Inter" pitchFamily="34" charset="-120"/>
              </a:rPr>
              <a:t>RAP Behavior</a:t>
            </a:r>
            <a:endParaRPr lang="en-US" sz="1400" dirty="0"/>
          </a:p>
        </p:txBody>
      </p:sp>
      <p:sp>
        <p:nvSpPr>
          <p:cNvPr id="7" name="Text 4"/>
          <p:cNvSpPr/>
          <p:nvPr/>
        </p:nvSpPr>
        <p:spPr>
          <a:xfrm>
            <a:off x="1740341" y="3390124"/>
            <a:ext cx="1190142" cy="229265"/>
          </a:xfrm>
          <a:prstGeom prst="rect">
            <a:avLst/>
          </a:prstGeom>
          <a:noFill/>
          <a:ln/>
        </p:spPr>
        <p:txBody>
          <a:bodyPr wrap="none" lIns="0" tIns="0" rIns="0" bIns="0" rtlCol="0" anchor="t"/>
          <a:lstStyle/>
          <a:p>
            <a:pPr marL="0" indent="0" algn="ctr">
              <a:lnSpc>
                <a:spcPct val="104000"/>
              </a:lnSpc>
              <a:buNone/>
            </a:pPr>
            <a:r>
              <a:rPr lang="en-US" sz="1400" dirty="0">
                <a:solidFill>
                  <a:srgbClr val="55575A"/>
                </a:solidFill>
                <a:latin typeface="Inter" pitchFamily="34" charset="0"/>
                <a:ea typeface="Inter" pitchFamily="34" charset="-122"/>
                <a:cs typeface="Inter" pitchFamily="34" charset="-120"/>
              </a:rPr>
              <a:t>User</a:t>
            </a:r>
            <a:endParaRPr lang="en-US" sz="1400" dirty="0"/>
          </a:p>
        </p:txBody>
      </p:sp>
      <p:sp>
        <p:nvSpPr>
          <p:cNvPr id="8" name="Text 5"/>
          <p:cNvSpPr/>
          <p:nvPr/>
        </p:nvSpPr>
        <p:spPr>
          <a:xfrm>
            <a:off x="496119" y="4238551"/>
            <a:ext cx="8151763"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55575A"/>
                </a:solidFill>
                <a:latin typeface="Manrope" pitchFamily="34" charset="0"/>
                <a:ea typeface="Manrope" pitchFamily="34" charset="-122"/>
                <a:cs typeface="Manrope" pitchFamily="34" charset="-120"/>
              </a:rPr>
              <a:t>Every user action flows through the RAP Business Object layer. Validations and determinations execute before any data is persisted, ensuring business rules are enforced and draft integrity is maintained throughout the transaction lifecycle.</a:t>
            </a:r>
            <a:endParaRPr lang="en-US" sz="1100" dirty="0"/>
          </a:p>
        </p:txBody>
      </p:sp>
      <mc:AlternateContent xmlns:mc="http://schemas.openxmlformats.org/markup-compatibility/2006">
        <mc:Choice xmlns:p14="http://schemas.microsoft.com/office/powerpoint/2010/main" Requires="p14">
          <p:contentPart p14:bwMode="auto" r:id="rId4">
            <p14:nvContentPartPr>
              <p14:cNvPr id="21" name="Ink 20">
                <a:extLst>
                  <a:ext uri="{FF2B5EF4-FFF2-40B4-BE49-F238E27FC236}">
                    <a16:creationId xmlns:a16="http://schemas.microsoft.com/office/drawing/2014/main" id="{FDA9B5BF-EFAE-2CC7-6D66-641AF348C8E4}"/>
                  </a:ext>
                </a:extLst>
              </p14:cNvPr>
              <p14:cNvContentPartPr/>
              <p14:nvPr/>
            </p14:nvContentPartPr>
            <p14:xfrm>
              <a:off x="8089086" y="4850086"/>
              <a:ext cx="896760" cy="152280"/>
            </p14:xfrm>
          </p:contentPart>
        </mc:Choice>
        <mc:Fallback>
          <p:pic>
            <p:nvPicPr>
              <p:cNvPr id="21" name="Ink 20">
                <a:extLst>
                  <a:ext uri="{FF2B5EF4-FFF2-40B4-BE49-F238E27FC236}">
                    <a16:creationId xmlns:a16="http://schemas.microsoft.com/office/drawing/2014/main" id="{FDA9B5BF-EFAE-2CC7-6D66-641AF348C8E4}"/>
                  </a:ext>
                </a:extLst>
              </p:cNvPr>
              <p:cNvPicPr/>
              <p:nvPr/>
            </p:nvPicPr>
            <p:blipFill>
              <a:blip r:embed="rId5"/>
              <a:stretch>
                <a:fillRect/>
              </a:stretch>
            </p:blipFill>
            <p:spPr>
              <a:xfrm>
                <a:off x="8026446" y="4787446"/>
                <a:ext cx="1022400" cy="2779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22" name="Ink 21">
                <a:extLst>
                  <a:ext uri="{FF2B5EF4-FFF2-40B4-BE49-F238E27FC236}">
                    <a16:creationId xmlns:a16="http://schemas.microsoft.com/office/drawing/2014/main" id="{51A4B747-6B63-14E6-9771-45999A553455}"/>
                  </a:ext>
                </a:extLst>
              </p14:cNvPr>
              <p14:cNvContentPartPr/>
              <p14:nvPr/>
            </p14:nvContentPartPr>
            <p14:xfrm>
              <a:off x="8030046" y="4950526"/>
              <a:ext cx="371880" cy="39240"/>
            </p14:xfrm>
          </p:contentPart>
        </mc:Choice>
        <mc:Fallback>
          <p:pic>
            <p:nvPicPr>
              <p:cNvPr id="22" name="Ink 21">
                <a:extLst>
                  <a:ext uri="{FF2B5EF4-FFF2-40B4-BE49-F238E27FC236}">
                    <a16:creationId xmlns:a16="http://schemas.microsoft.com/office/drawing/2014/main" id="{51A4B747-6B63-14E6-9771-45999A553455}"/>
                  </a:ext>
                </a:extLst>
              </p:cNvPr>
              <p:cNvPicPr/>
              <p:nvPr/>
            </p:nvPicPr>
            <p:blipFill>
              <a:blip r:embed="rId7"/>
              <a:stretch>
                <a:fillRect/>
              </a:stretch>
            </p:blipFill>
            <p:spPr>
              <a:xfrm>
                <a:off x="7967406" y="4887526"/>
                <a:ext cx="497520" cy="164880"/>
              </a:xfrm>
              <a:prstGeom prst="rect">
                <a:avLst/>
              </a:prstGeom>
            </p:spPr>
          </p:pic>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394320"/>
            <a:ext cx="8151763" cy="401464"/>
          </a:xfrm>
          <a:prstGeom prst="rect">
            <a:avLst/>
          </a:prstGeom>
          <a:noFill/>
          <a:ln/>
        </p:spPr>
        <p:txBody>
          <a:bodyPr wrap="none" lIns="0" tIns="0" rIns="0" bIns="0" rtlCol="0" anchor="t"/>
          <a:lstStyle/>
          <a:p>
            <a:pPr marL="0" indent="0" algn="l">
              <a:lnSpc>
                <a:spcPct val="104000"/>
              </a:lnSpc>
              <a:buNone/>
            </a:pPr>
            <a:r>
              <a:rPr lang="en-US" sz="2500" dirty="0">
                <a:solidFill>
                  <a:srgbClr val="0C0D0F"/>
                </a:solidFill>
                <a:latin typeface="Inter" pitchFamily="34" charset="0"/>
                <a:ea typeface="Inter" pitchFamily="34" charset="-122"/>
                <a:cs typeface="Inter" pitchFamily="34" charset="-120"/>
              </a:rPr>
              <a:t>Validation Rules &amp; Determinations</a:t>
            </a:r>
            <a:endParaRPr lang="en-US" sz="2500" dirty="0"/>
          </a:p>
        </p:txBody>
      </p:sp>
      <p:sp>
        <p:nvSpPr>
          <p:cNvPr id="3" name="Text 1"/>
          <p:cNvSpPr/>
          <p:nvPr/>
        </p:nvSpPr>
        <p:spPr>
          <a:xfrm>
            <a:off x="496119" y="1086743"/>
            <a:ext cx="3919165" cy="200695"/>
          </a:xfrm>
          <a:prstGeom prst="rect">
            <a:avLst/>
          </a:prstGeom>
          <a:noFill/>
          <a:ln/>
        </p:spPr>
        <p:txBody>
          <a:bodyPr wrap="none" lIns="0" tIns="0" rIns="0" bIns="0" rtlCol="0" anchor="t"/>
          <a:lstStyle/>
          <a:p>
            <a:pPr marL="0" indent="0" algn="l">
              <a:lnSpc>
                <a:spcPct val="104000"/>
              </a:lnSpc>
              <a:buNone/>
            </a:pPr>
            <a:r>
              <a:rPr lang="en-US" sz="1250" dirty="0">
                <a:solidFill>
                  <a:srgbClr val="0C0D0F"/>
                </a:solidFill>
                <a:latin typeface="Inter" pitchFamily="34" charset="0"/>
                <a:ea typeface="Inter" pitchFamily="34" charset="-122"/>
                <a:cs typeface="Inter" pitchFamily="34" charset="-120"/>
              </a:rPr>
              <a:t>Validation Rules</a:t>
            </a:r>
            <a:endParaRPr lang="en-US" sz="1250" dirty="0"/>
          </a:p>
        </p:txBody>
      </p:sp>
      <p:sp>
        <p:nvSpPr>
          <p:cNvPr id="4" name="Text 2"/>
          <p:cNvSpPr/>
          <p:nvPr/>
        </p:nvSpPr>
        <p:spPr>
          <a:xfrm>
            <a:off x="496119" y="1403821"/>
            <a:ext cx="3919165" cy="587797"/>
          </a:xfrm>
          <a:prstGeom prst="rect">
            <a:avLst/>
          </a:prstGeom>
          <a:noFill/>
          <a:ln/>
        </p:spPr>
        <p:txBody>
          <a:bodyPr wrap="square" lIns="0" tIns="0" rIns="0" bIns="0" rtlCol="0" anchor="t">
            <a:normAutofit/>
          </a:bodyPr>
          <a:lstStyle/>
          <a:p>
            <a:pPr marL="0" indent="0" algn="l">
              <a:lnSpc>
                <a:spcPct val="127000"/>
              </a:lnSpc>
              <a:buNone/>
            </a:pPr>
            <a:r>
              <a:rPr lang="en-US" sz="1000" dirty="0">
                <a:solidFill>
                  <a:srgbClr val="55575A"/>
                </a:solidFill>
                <a:latin typeface="Manrope" pitchFamily="34" charset="0"/>
                <a:ea typeface="Manrope" pitchFamily="34" charset="-122"/>
                <a:cs typeface="Manrope" pitchFamily="34" charset="-120"/>
              </a:rPr>
              <a:t>The RAP Business Object executes these checks before activation. Failed validations halt the transaction and display an error in SAP Fiori.</a:t>
            </a:r>
            <a:endParaRPr lang="en-US" sz="1000" dirty="0"/>
          </a:p>
        </p:txBody>
      </p:sp>
      <p:sp>
        <p:nvSpPr>
          <p:cNvPr id="5" name="Shape 3"/>
          <p:cNvSpPr/>
          <p:nvPr/>
        </p:nvSpPr>
        <p:spPr>
          <a:xfrm>
            <a:off x="496119" y="2122587"/>
            <a:ext cx="3919165" cy="2495550"/>
          </a:xfrm>
          <a:prstGeom prst="roundRect">
            <a:avLst>
              <a:gd name="adj" fmla="val 4633"/>
            </a:avLst>
          </a:prstGeom>
          <a:noFill/>
          <a:ln w="4763">
            <a:solidFill>
              <a:srgbClr val="000000">
                <a:alpha val="8000"/>
              </a:srgbClr>
            </a:solidFill>
            <a:prstDash val="solid"/>
          </a:ln>
        </p:spPr>
        <p:txBody>
          <a:bodyPr/>
          <a:lstStyle/>
          <a:p>
            <a:endParaRPr lang="en-US"/>
          </a:p>
        </p:txBody>
      </p:sp>
      <p:sp>
        <p:nvSpPr>
          <p:cNvPr id="6" name="Shape 4"/>
          <p:cNvSpPr/>
          <p:nvPr/>
        </p:nvSpPr>
        <p:spPr>
          <a:xfrm>
            <a:off x="496119" y="2474788"/>
            <a:ext cx="3919165" cy="8030"/>
          </a:xfrm>
          <a:prstGeom prst="rect">
            <a:avLst/>
          </a:prstGeom>
          <a:solidFill>
            <a:srgbClr val="000000">
              <a:alpha val="8000"/>
            </a:srgbClr>
          </a:solidFill>
          <a:ln/>
        </p:spPr>
        <p:txBody>
          <a:bodyPr/>
          <a:lstStyle/>
          <a:p>
            <a:endParaRPr lang="en-US"/>
          </a:p>
        </p:txBody>
      </p:sp>
      <p:sp>
        <p:nvSpPr>
          <p:cNvPr id="7" name="Shape 5"/>
          <p:cNvSpPr/>
          <p:nvPr/>
        </p:nvSpPr>
        <p:spPr>
          <a:xfrm>
            <a:off x="496119" y="2824609"/>
            <a:ext cx="3919165" cy="8030"/>
          </a:xfrm>
          <a:prstGeom prst="rect">
            <a:avLst/>
          </a:prstGeom>
          <a:solidFill>
            <a:srgbClr val="000000">
              <a:alpha val="8000"/>
            </a:srgbClr>
          </a:solidFill>
          <a:ln/>
        </p:spPr>
        <p:txBody>
          <a:bodyPr/>
          <a:lstStyle/>
          <a:p>
            <a:endParaRPr lang="en-US"/>
          </a:p>
        </p:txBody>
      </p:sp>
      <p:sp>
        <p:nvSpPr>
          <p:cNvPr id="8" name="Shape 6"/>
          <p:cNvSpPr/>
          <p:nvPr/>
        </p:nvSpPr>
        <p:spPr>
          <a:xfrm>
            <a:off x="496119" y="3370362"/>
            <a:ext cx="3919165" cy="8030"/>
          </a:xfrm>
          <a:prstGeom prst="rect">
            <a:avLst/>
          </a:prstGeom>
          <a:solidFill>
            <a:srgbClr val="000000">
              <a:alpha val="8000"/>
            </a:srgbClr>
          </a:solidFill>
          <a:ln/>
        </p:spPr>
        <p:txBody>
          <a:bodyPr/>
          <a:lstStyle/>
          <a:p>
            <a:endParaRPr lang="en-US"/>
          </a:p>
        </p:txBody>
      </p:sp>
      <p:sp>
        <p:nvSpPr>
          <p:cNvPr id="9" name="Shape 7"/>
          <p:cNvSpPr/>
          <p:nvPr/>
        </p:nvSpPr>
        <p:spPr>
          <a:xfrm>
            <a:off x="496119" y="3720182"/>
            <a:ext cx="3919165" cy="8030"/>
          </a:xfrm>
          <a:prstGeom prst="rect">
            <a:avLst/>
          </a:prstGeom>
          <a:solidFill>
            <a:srgbClr val="000000">
              <a:alpha val="8000"/>
            </a:srgbClr>
          </a:solidFill>
          <a:ln/>
        </p:spPr>
        <p:txBody>
          <a:bodyPr/>
          <a:lstStyle/>
          <a:p>
            <a:endParaRPr lang="en-US"/>
          </a:p>
        </p:txBody>
      </p:sp>
      <p:sp>
        <p:nvSpPr>
          <p:cNvPr id="10" name="Shape 8"/>
          <p:cNvSpPr/>
          <p:nvPr/>
        </p:nvSpPr>
        <p:spPr>
          <a:xfrm>
            <a:off x="496119" y="4265935"/>
            <a:ext cx="3919165" cy="8030"/>
          </a:xfrm>
          <a:prstGeom prst="rect">
            <a:avLst/>
          </a:prstGeom>
          <a:solidFill>
            <a:srgbClr val="000000">
              <a:alpha val="8000"/>
            </a:srgbClr>
          </a:solidFill>
          <a:ln/>
        </p:spPr>
        <p:txBody>
          <a:bodyPr/>
          <a:lstStyle/>
          <a:p>
            <a:endParaRPr lang="en-US"/>
          </a:p>
        </p:txBody>
      </p:sp>
      <p:sp>
        <p:nvSpPr>
          <p:cNvPr id="11" name="Shape 9"/>
          <p:cNvSpPr/>
          <p:nvPr/>
        </p:nvSpPr>
        <p:spPr>
          <a:xfrm>
            <a:off x="2455738" y="2122587"/>
            <a:ext cx="8030" cy="2495550"/>
          </a:xfrm>
          <a:prstGeom prst="rect">
            <a:avLst/>
          </a:prstGeom>
          <a:solidFill>
            <a:srgbClr val="000000">
              <a:alpha val="8000"/>
            </a:srgbClr>
          </a:solidFill>
          <a:ln/>
        </p:spPr>
        <p:txBody>
          <a:bodyPr/>
          <a:lstStyle/>
          <a:p>
            <a:endParaRPr lang="en-US"/>
          </a:p>
        </p:txBody>
      </p:sp>
      <p:sp>
        <p:nvSpPr>
          <p:cNvPr id="12" name="Text 10"/>
          <p:cNvSpPr/>
          <p:nvPr/>
        </p:nvSpPr>
        <p:spPr>
          <a:xfrm>
            <a:off x="629394" y="2201912"/>
            <a:ext cx="2152724" cy="195932"/>
          </a:xfrm>
          <a:prstGeom prst="rect">
            <a:avLst/>
          </a:prstGeom>
          <a:noFill/>
          <a:ln/>
        </p:spPr>
        <p:txBody>
          <a:bodyPr wrap="none" lIns="0" tIns="0" rIns="0" bIns="0" rtlCol="0" anchor="t"/>
          <a:lstStyle/>
          <a:p>
            <a:pPr marL="0" indent="0" algn="l">
              <a:lnSpc>
                <a:spcPct val="127000"/>
              </a:lnSpc>
              <a:buNone/>
            </a:pPr>
            <a:r>
              <a:rPr lang="en-US" sz="1000" b="1" dirty="0">
                <a:solidFill>
                  <a:srgbClr val="55575A"/>
                </a:solidFill>
                <a:latin typeface="Manrope Bold" pitchFamily="34" charset="0"/>
                <a:ea typeface="Manrope Bold" pitchFamily="34" charset="-122"/>
                <a:cs typeface="Manrope Bold" pitchFamily="34" charset="-120"/>
              </a:rPr>
              <a:t>Validation</a:t>
            </a:r>
            <a:endParaRPr lang="en-US" sz="1000" dirty="0"/>
          </a:p>
        </p:txBody>
      </p:sp>
      <p:sp>
        <p:nvSpPr>
          <p:cNvPr id="13" name="Text 11"/>
          <p:cNvSpPr/>
          <p:nvPr/>
        </p:nvSpPr>
        <p:spPr>
          <a:xfrm>
            <a:off x="2586558" y="2201912"/>
            <a:ext cx="2152724" cy="195932"/>
          </a:xfrm>
          <a:prstGeom prst="rect">
            <a:avLst/>
          </a:prstGeom>
          <a:noFill/>
          <a:ln/>
        </p:spPr>
        <p:txBody>
          <a:bodyPr wrap="none" lIns="0" tIns="0" rIns="0" bIns="0" rtlCol="0" anchor="t"/>
          <a:lstStyle/>
          <a:p>
            <a:pPr marL="0" indent="0" algn="l">
              <a:lnSpc>
                <a:spcPct val="127000"/>
              </a:lnSpc>
              <a:buNone/>
            </a:pPr>
            <a:r>
              <a:rPr lang="en-US" sz="1000" b="1" dirty="0">
                <a:solidFill>
                  <a:srgbClr val="55575A"/>
                </a:solidFill>
                <a:latin typeface="Manrope Bold" pitchFamily="34" charset="0"/>
                <a:ea typeface="Manrope Bold" pitchFamily="34" charset="-122"/>
                <a:cs typeface="Manrope Bold" pitchFamily="34" charset="-120"/>
              </a:rPr>
              <a:t>Purpose</a:t>
            </a:r>
            <a:endParaRPr lang="en-US" sz="1000" dirty="0"/>
          </a:p>
        </p:txBody>
      </p:sp>
      <p:sp>
        <p:nvSpPr>
          <p:cNvPr id="14" name="Text 12"/>
          <p:cNvSpPr/>
          <p:nvPr/>
        </p:nvSpPr>
        <p:spPr>
          <a:xfrm>
            <a:off x="629394" y="2551733"/>
            <a:ext cx="2152724" cy="195932"/>
          </a:xfrm>
          <a:prstGeom prst="rect">
            <a:avLst/>
          </a:prstGeom>
          <a:noFill/>
          <a:ln/>
        </p:spPr>
        <p:txBody>
          <a:bodyPr wrap="none" lIns="0" tIns="0" rIns="0" bIns="0" rtlCol="0" anchor="t"/>
          <a:lstStyle/>
          <a:p>
            <a:pPr marL="0" indent="0" algn="l">
              <a:lnSpc>
                <a:spcPct val="127000"/>
              </a:lnSpc>
              <a:buNone/>
            </a:pPr>
            <a:r>
              <a:rPr lang="en-US" sz="1000" dirty="0">
                <a:solidFill>
                  <a:srgbClr val="55575A"/>
                </a:solidFill>
                <a:latin typeface="Manrope" pitchFamily="34" charset="0"/>
                <a:ea typeface="Manrope" pitchFamily="34" charset="-122"/>
                <a:cs typeface="Manrope" pitchFamily="34" charset="-120"/>
              </a:rPr>
              <a:t>Product Name</a:t>
            </a:r>
            <a:endParaRPr lang="en-US" sz="1000" dirty="0"/>
          </a:p>
        </p:txBody>
      </p:sp>
      <p:sp>
        <p:nvSpPr>
          <p:cNvPr id="15" name="Text 13"/>
          <p:cNvSpPr/>
          <p:nvPr/>
        </p:nvSpPr>
        <p:spPr>
          <a:xfrm>
            <a:off x="2586558" y="2551733"/>
            <a:ext cx="2152724" cy="195932"/>
          </a:xfrm>
          <a:prstGeom prst="rect">
            <a:avLst/>
          </a:prstGeom>
          <a:noFill/>
          <a:ln/>
        </p:spPr>
        <p:txBody>
          <a:bodyPr wrap="none" lIns="0" tIns="0" rIns="0" bIns="0" rtlCol="0" anchor="t"/>
          <a:lstStyle/>
          <a:p>
            <a:pPr marL="0" indent="0" algn="l">
              <a:lnSpc>
                <a:spcPct val="127000"/>
              </a:lnSpc>
              <a:buNone/>
            </a:pPr>
            <a:r>
              <a:rPr lang="en-US" sz="1000" dirty="0">
                <a:solidFill>
                  <a:srgbClr val="55575A"/>
                </a:solidFill>
                <a:latin typeface="Manrope" pitchFamily="34" charset="0"/>
                <a:ea typeface="Manrope" pitchFamily="34" charset="-122"/>
                <a:cs typeface="Manrope" pitchFamily="34" charset="-120"/>
              </a:rPr>
              <a:t>Cannot be empty</a:t>
            </a:r>
            <a:endParaRPr lang="en-US" sz="1000" dirty="0"/>
          </a:p>
        </p:txBody>
      </p:sp>
      <p:sp>
        <p:nvSpPr>
          <p:cNvPr id="16" name="Text 14"/>
          <p:cNvSpPr/>
          <p:nvPr/>
        </p:nvSpPr>
        <p:spPr>
          <a:xfrm>
            <a:off x="629394" y="2901553"/>
            <a:ext cx="2152724" cy="195932"/>
          </a:xfrm>
          <a:prstGeom prst="rect">
            <a:avLst/>
          </a:prstGeom>
          <a:noFill/>
          <a:ln/>
        </p:spPr>
        <p:txBody>
          <a:bodyPr wrap="none" lIns="0" tIns="0" rIns="0" bIns="0" rtlCol="0" anchor="t"/>
          <a:lstStyle/>
          <a:p>
            <a:pPr marL="0" indent="0" algn="l">
              <a:lnSpc>
                <a:spcPct val="127000"/>
              </a:lnSpc>
              <a:buNone/>
            </a:pPr>
            <a:r>
              <a:rPr lang="en-US" sz="1000" dirty="0">
                <a:solidFill>
                  <a:srgbClr val="55575A"/>
                </a:solidFill>
                <a:latin typeface="Manrope" pitchFamily="34" charset="0"/>
                <a:ea typeface="Manrope" pitchFamily="34" charset="-122"/>
                <a:cs typeface="Manrope" pitchFamily="34" charset="-120"/>
              </a:rPr>
              <a:t>Semantic Key Check</a:t>
            </a:r>
            <a:endParaRPr lang="en-US" sz="1000" dirty="0"/>
          </a:p>
        </p:txBody>
      </p:sp>
      <p:sp>
        <p:nvSpPr>
          <p:cNvPr id="17" name="Text 15"/>
          <p:cNvSpPr/>
          <p:nvPr/>
        </p:nvSpPr>
        <p:spPr>
          <a:xfrm>
            <a:off x="2586558" y="2901553"/>
            <a:ext cx="1695524" cy="391864"/>
          </a:xfrm>
          <a:prstGeom prst="rect">
            <a:avLst/>
          </a:prstGeom>
          <a:noFill/>
          <a:ln/>
        </p:spPr>
        <p:txBody>
          <a:bodyPr wrap="square" lIns="0" tIns="0" rIns="0" bIns="0" rtlCol="0" anchor="t">
            <a:normAutofit/>
          </a:bodyPr>
          <a:lstStyle/>
          <a:p>
            <a:pPr marL="0" indent="0" algn="l">
              <a:lnSpc>
                <a:spcPct val="127000"/>
              </a:lnSpc>
              <a:buNone/>
            </a:pPr>
            <a:r>
              <a:rPr lang="en-US" sz="1000" dirty="0">
                <a:solidFill>
                  <a:srgbClr val="55575A"/>
                </a:solidFill>
                <a:latin typeface="Manrope" pitchFamily="34" charset="0"/>
                <a:ea typeface="Manrope" pitchFamily="34" charset="-122"/>
                <a:cs typeface="Manrope" pitchFamily="34" charset="-120"/>
              </a:rPr>
              <a:t>Prevents duplicate Product IDs</a:t>
            </a:r>
            <a:endParaRPr lang="en-US" sz="1000" dirty="0"/>
          </a:p>
        </p:txBody>
      </p:sp>
      <p:sp>
        <p:nvSpPr>
          <p:cNvPr id="18" name="Text 16"/>
          <p:cNvSpPr/>
          <p:nvPr/>
        </p:nvSpPr>
        <p:spPr>
          <a:xfrm>
            <a:off x="629394" y="3447306"/>
            <a:ext cx="2152724" cy="195932"/>
          </a:xfrm>
          <a:prstGeom prst="rect">
            <a:avLst/>
          </a:prstGeom>
          <a:noFill/>
          <a:ln/>
        </p:spPr>
        <p:txBody>
          <a:bodyPr wrap="none" lIns="0" tIns="0" rIns="0" bIns="0" rtlCol="0" anchor="t"/>
          <a:lstStyle/>
          <a:p>
            <a:pPr marL="0" indent="0" algn="l">
              <a:lnSpc>
                <a:spcPct val="127000"/>
              </a:lnSpc>
              <a:buNone/>
            </a:pPr>
            <a:r>
              <a:rPr lang="en-US" sz="1000" dirty="0">
                <a:solidFill>
                  <a:srgbClr val="55575A"/>
                </a:solidFill>
                <a:latin typeface="Manrope" pitchFamily="34" charset="0"/>
                <a:ea typeface="Manrope" pitchFamily="34" charset="-122"/>
                <a:cs typeface="Manrope" pitchFamily="34" charset="-120"/>
              </a:rPr>
              <a:t>Store &amp; Category</a:t>
            </a:r>
            <a:endParaRPr lang="en-US" sz="1000" dirty="0"/>
          </a:p>
        </p:txBody>
      </p:sp>
      <p:sp>
        <p:nvSpPr>
          <p:cNvPr id="19" name="Text 17"/>
          <p:cNvSpPr/>
          <p:nvPr/>
        </p:nvSpPr>
        <p:spPr>
          <a:xfrm>
            <a:off x="2586558" y="3447306"/>
            <a:ext cx="2152724" cy="195932"/>
          </a:xfrm>
          <a:prstGeom prst="rect">
            <a:avLst/>
          </a:prstGeom>
          <a:noFill/>
          <a:ln/>
        </p:spPr>
        <p:txBody>
          <a:bodyPr wrap="none" lIns="0" tIns="0" rIns="0" bIns="0" rtlCol="0" anchor="t"/>
          <a:lstStyle/>
          <a:p>
            <a:pPr marL="0" indent="0" algn="l">
              <a:lnSpc>
                <a:spcPct val="127000"/>
              </a:lnSpc>
              <a:buNone/>
            </a:pPr>
            <a:r>
              <a:rPr lang="en-US" sz="1000" dirty="0">
                <a:solidFill>
                  <a:srgbClr val="55575A"/>
                </a:solidFill>
                <a:latin typeface="Manrope" pitchFamily="34" charset="0"/>
                <a:ea typeface="Manrope" pitchFamily="34" charset="-122"/>
                <a:cs typeface="Manrope" pitchFamily="34" charset="-120"/>
              </a:rPr>
              <a:t>Selection is mandatory</a:t>
            </a:r>
            <a:endParaRPr lang="en-US" sz="1000" dirty="0"/>
          </a:p>
        </p:txBody>
      </p:sp>
      <p:sp>
        <p:nvSpPr>
          <p:cNvPr id="20" name="Text 18"/>
          <p:cNvSpPr/>
          <p:nvPr/>
        </p:nvSpPr>
        <p:spPr>
          <a:xfrm>
            <a:off x="629394" y="3797126"/>
            <a:ext cx="2152724" cy="195932"/>
          </a:xfrm>
          <a:prstGeom prst="rect">
            <a:avLst/>
          </a:prstGeom>
          <a:noFill/>
          <a:ln/>
        </p:spPr>
        <p:txBody>
          <a:bodyPr wrap="none" lIns="0" tIns="0" rIns="0" bIns="0" rtlCol="0" anchor="t"/>
          <a:lstStyle/>
          <a:p>
            <a:pPr marL="0" indent="0" algn="l">
              <a:lnSpc>
                <a:spcPct val="127000"/>
              </a:lnSpc>
              <a:buNone/>
            </a:pPr>
            <a:r>
              <a:rPr lang="en-US" sz="1000" dirty="0">
                <a:solidFill>
                  <a:srgbClr val="55575A"/>
                </a:solidFill>
                <a:latin typeface="Manrope" pitchFamily="34" charset="0"/>
                <a:ea typeface="Manrope" pitchFamily="34" charset="-122"/>
                <a:cs typeface="Manrope" pitchFamily="34" charset="-120"/>
              </a:rPr>
              <a:t>Currency</a:t>
            </a:r>
            <a:endParaRPr lang="en-US" sz="1000" dirty="0"/>
          </a:p>
        </p:txBody>
      </p:sp>
      <p:sp>
        <p:nvSpPr>
          <p:cNvPr id="21" name="Text 19"/>
          <p:cNvSpPr/>
          <p:nvPr/>
        </p:nvSpPr>
        <p:spPr>
          <a:xfrm>
            <a:off x="2586558" y="3797126"/>
            <a:ext cx="1695524" cy="391864"/>
          </a:xfrm>
          <a:prstGeom prst="rect">
            <a:avLst/>
          </a:prstGeom>
          <a:noFill/>
          <a:ln/>
        </p:spPr>
        <p:txBody>
          <a:bodyPr wrap="square" lIns="0" tIns="0" rIns="0" bIns="0" rtlCol="0" anchor="t">
            <a:normAutofit/>
          </a:bodyPr>
          <a:lstStyle/>
          <a:p>
            <a:pPr marL="0" indent="0" algn="l">
              <a:lnSpc>
                <a:spcPct val="127000"/>
              </a:lnSpc>
              <a:buNone/>
            </a:pPr>
            <a:r>
              <a:rPr lang="en-US" sz="1000" dirty="0">
                <a:solidFill>
                  <a:srgbClr val="55575A"/>
                </a:solidFill>
                <a:latin typeface="Manrope" pitchFamily="34" charset="0"/>
                <a:ea typeface="Manrope" pitchFamily="34" charset="-122"/>
                <a:cs typeface="Manrope" pitchFamily="34" charset="-120"/>
              </a:rPr>
              <a:t>Must exist in SAP standard list</a:t>
            </a:r>
            <a:endParaRPr lang="en-US" sz="1000" dirty="0"/>
          </a:p>
        </p:txBody>
      </p:sp>
      <p:sp>
        <p:nvSpPr>
          <p:cNvPr id="22" name="Text 20"/>
          <p:cNvSpPr/>
          <p:nvPr/>
        </p:nvSpPr>
        <p:spPr>
          <a:xfrm>
            <a:off x="629394" y="4342879"/>
            <a:ext cx="2152724" cy="195932"/>
          </a:xfrm>
          <a:prstGeom prst="rect">
            <a:avLst/>
          </a:prstGeom>
          <a:noFill/>
          <a:ln/>
        </p:spPr>
        <p:txBody>
          <a:bodyPr wrap="none" lIns="0" tIns="0" rIns="0" bIns="0" rtlCol="0" anchor="t"/>
          <a:lstStyle/>
          <a:p>
            <a:pPr marL="0" indent="0" algn="l">
              <a:lnSpc>
                <a:spcPct val="127000"/>
              </a:lnSpc>
              <a:buNone/>
            </a:pPr>
            <a:r>
              <a:rPr lang="en-US" sz="1000" dirty="0">
                <a:solidFill>
                  <a:srgbClr val="55575A"/>
                </a:solidFill>
                <a:latin typeface="Manrope" pitchFamily="34" charset="0"/>
                <a:ea typeface="Manrope" pitchFamily="34" charset="-122"/>
                <a:cs typeface="Manrope" pitchFamily="34" charset="-120"/>
              </a:rPr>
              <a:t>Base Price</a:t>
            </a:r>
            <a:endParaRPr lang="en-US" sz="1000" dirty="0"/>
          </a:p>
        </p:txBody>
      </p:sp>
      <p:sp>
        <p:nvSpPr>
          <p:cNvPr id="23" name="Text 21"/>
          <p:cNvSpPr/>
          <p:nvPr/>
        </p:nvSpPr>
        <p:spPr>
          <a:xfrm>
            <a:off x="2586558" y="4342879"/>
            <a:ext cx="2152724" cy="195932"/>
          </a:xfrm>
          <a:prstGeom prst="rect">
            <a:avLst/>
          </a:prstGeom>
          <a:noFill/>
          <a:ln/>
        </p:spPr>
        <p:txBody>
          <a:bodyPr wrap="none" lIns="0" tIns="0" rIns="0" bIns="0" rtlCol="0" anchor="t"/>
          <a:lstStyle/>
          <a:p>
            <a:pPr marL="0" indent="0" algn="l">
              <a:lnSpc>
                <a:spcPct val="127000"/>
              </a:lnSpc>
              <a:buNone/>
            </a:pPr>
            <a:r>
              <a:rPr lang="en-US" sz="1000" dirty="0">
                <a:solidFill>
                  <a:srgbClr val="55575A"/>
                </a:solidFill>
                <a:latin typeface="Manrope" pitchFamily="34" charset="0"/>
                <a:ea typeface="Manrope" pitchFamily="34" charset="-122"/>
                <a:cs typeface="Manrope" pitchFamily="34" charset="-120"/>
              </a:rPr>
              <a:t>Must be greater than zero</a:t>
            </a:r>
            <a:endParaRPr lang="en-US" sz="1000" dirty="0"/>
          </a:p>
        </p:txBody>
      </p:sp>
      <p:sp>
        <p:nvSpPr>
          <p:cNvPr id="24" name="Text 22"/>
          <p:cNvSpPr/>
          <p:nvPr/>
        </p:nvSpPr>
        <p:spPr>
          <a:xfrm>
            <a:off x="4733479" y="1086743"/>
            <a:ext cx="3919165" cy="200695"/>
          </a:xfrm>
          <a:prstGeom prst="rect">
            <a:avLst/>
          </a:prstGeom>
          <a:noFill/>
          <a:ln/>
        </p:spPr>
        <p:txBody>
          <a:bodyPr wrap="none" lIns="0" tIns="0" rIns="0" bIns="0" rtlCol="0" anchor="t"/>
          <a:lstStyle/>
          <a:p>
            <a:pPr marL="0" indent="0" algn="l">
              <a:lnSpc>
                <a:spcPct val="104000"/>
              </a:lnSpc>
              <a:buNone/>
            </a:pPr>
            <a:r>
              <a:rPr lang="en-US" sz="1250" dirty="0">
                <a:solidFill>
                  <a:srgbClr val="0C0D0F"/>
                </a:solidFill>
                <a:latin typeface="Inter" pitchFamily="34" charset="0"/>
                <a:ea typeface="Inter" pitchFamily="34" charset="-122"/>
                <a:cs typeface="Inter" pitchFamily="34" charset="-120"/>
              </a:rPr>
              <a:t>Business Determinations</a:t>
            </a:r>
            <a:endParaRPr lang="en-US" sz="1250" dirty="0"/>
          </a:p>
        </p:txBody>
      </p:sp>
      <p:pic>
        <p:nvPicPr>
          <p:cNvPr id="2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33479" y="1418406"/>
            <a:ext cx="1901354" cy="1386260"/>
          </a:xfrm>
          <a:prstGeom prst="rect">
            <a:avLst/>
          </a:prstGeom>
        </p:spPr>
      </p:pic>
      <p:sp>
        <p:nvSpPr>
          <p:cNvPr id="26" name="Text 23"/>
          <p:cNvSpPr/>
          <p:nvPr/>
        </p:nvSpPr>
        <p:spPr>
          <a:xfrm>
            <a:off x="4933355" y="1561133"/>
            <a:ext cx="1558751" cy="200695"/>
          </a:xfrm>
          <a:prstGeom prst="rect">
            <a:avLst/>
          </a:prstGeom>
          <a:noFill/>
          <a:ln/>
        </p:spPr>
        <p:txBody>
          <a:bodyPr wrap="none" lIns="0" tIns="0" rIns="0" bIns="0" rtlCol="0" anchor="t"/>
          <a:lstStyle/>
          <a:p>
            <a:pPr marL="0" indent="0" algn="l">
              <a:lnSpc>
                <a:spcPct val="104000"/>
              </a:lnSpc>
              <a:buNone/>
            </a:pPr>
            <a:r>
              <a:rPr lang="en-US" sz="1250" dirty="0">
                <a:solidFill>
                  <a:srgbClr val="55575A"/>
                </a:solidFill>
                <a:latin typeface="Inter" pitchFamily="34" charset="0"/>
                <a:ea typeface="Inter" pitchFamily="34" charset="-122"/>
                <a:cs typeface="Inter" pitchFamily="34" charset="-120"/>
              </a:rPr>
              <a:t>Default Currency</a:t>
            </a:r>
            <a:endParaRPr lang="en-US" sz="1250" dirty="0"/>
          </a:p>
        </p:txBody>
      </p:sp>
      <p:sp>
        <p:nvSpPr>
          <p:cNvPr id="27" name="Text 24"/>
          <p:cNvSpPr/>
          <p:nvPr/>
        </p:nvSpPr>
        <p:spPr>
          <a:xfrm>
            <a:off x="4933355" y="1878211"/>
            <a:ext cx="1558751" cy="783729"/>
          </a:xfrm>
          <a:prstGeom prst="rect">
            <a:avLst/>
          </a:prstGeom>
          <a:noFill/>
          <a:ln/>
        </p:spPr>
        <p:txBody>
          <a:bodyPr wrap="square" lIns="0" tIns="0" rIns="0" bIns="0" rtlCol="0" anchor="t">
            <a:normAutofit/>
          </a:bodyPr>
          <a:lstStyle/>
          <a:p>
            <a:pPr marL="0" indent="0" algn="l">
              <a:lnSpc>
                <a:spcPct val="127000"/>
              </a:lnSpc>
              <a:buNone/>
            </a:pPr>
            <a:r>
              <a:rPr lang="en-US" sz="1000" dirty="0">
                <a:solidFill>
                  <a:srgbClr val="55575A"/>
                </a:solidFill>
                <a:latin typeface="Manrope" pitchFamily="34" charset="0"/>
                <a:ea typeface="Manrope" pitchFamily="34" charset="-122"/>
                <a:cs typeface="Manrope" pitchFamily="34" charset="-120"/>
              </a:rPr>
              <a:t>Automatically assigns </a:t>
            </a:r>
            <a:r>
              <a:rPr lang="en-US" sz="1000" b="1" dirty="0">
                <a:solidFill>
                  <a:srgbClr val="55575A"/>
                </a:solidFill>
                <a:latin typeface="Manrope Bold" pitchFamily="34" charset="0"/>
                <a:ea typeface="Manrope Bold" pitchFamily="34" charset="-122"/>
                <a:cs typeface="Manrope Bold" pitchFamily="34" charset="-120"/>
              </a:rPr>
              <a:t>EUR</a:t>
            </a:r>
            <a:r>
              <a:rPr lang="en-US" sz="1000" dirty="0">
                <a:solidFill>
                  <a:srgbClr val="55575A"/>
                </a:solidFill>
                <a:latin typeface="Manrope" pitchFamily="34" charset="0"/>
                <a:ea typeface="Manrope" pitchFamily="34" charset="-122"/>
                <a:cs typeface="Manrope" pitchFamily="34" charset="-120"/>
              </a:rPr>
              <a:t> when the currency field is left empty during product creation.</a:t>
            </a:r>
            <a:endParaRPr lang="en-US" sz="1000" dirty="0"/>
          </a:p>
        </p:txBody>
      </p:sp>
      <p:pic>
        <p:nvPicPr>
          <p:cNvPr id="28"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51216" y="1418406"/>
            <a:ext cx="1901428" cy="1386260"/>
          </a:xfrm>
          <a:prstGeom prst="rect">
            <a:avLst/>
          </a:prstGeom>
        </p:spPr>
      </p:pic>
      <p:sp>
        <p:nvSpPr>
          <p:cNvPr id="29" name="Text 25"/>
          <p:cNvSpPr/>
          <p:nvPr/>
        </p:nvSpPr>
        <p:spPr>
          <a:xfrm>
            <a:off x="6951092" y="1561133"/>
            <a:ext cx="1558826" cy="200695"/>
          </a:xfrm>
          <a:prstGeom prst="rect">
            <a:avLst/>
          </a:prstGeom>
          <a:noFill/>
          <a:ln/>
        </p:spPr>
        <p:txBody>
          <a:bodyPr wrap="none" lIns="0" tIns="0" rIns="0" bIns="0" rtlCol="0" anchor="t"/>
          <a:lstStyle/>
          <a:p>
            <a:pPr marL="0" indent="0" algn="l">
              <a:lnSpc>
                <a:spcPct val="104000"/>
              </a:lnSpc>
              <a:buNone/>
            </a:pPr>
            <a:r>
              <a:rPr lang="en-US" sz="1250" dirty="0">
                <a:solidFill>
                  <a:srgbClr val="55575A"/>
                </a:solidFill>
                <a:latin typeface="Inter" pitchFamily="34" charset="0"/>
                <a:ea typeface="Inter" pitchFamily="34" charset="-122"/>
                <a:cs typeface="Inter" pitchFamily="34" charset="-120"/>
              </a:rPr>
              <a:t>Price Classification</a:t>
            </a:r>
            <a:endParaRPr lang="en-US" sz="1250" dirty="0"/>
          </a:p>
        </p:txBody>
      </p:sp>
      <p:sp>
        <p:nvSpPr>
          <p:cNvPr id="30" name="Text 26"/>
          <p:cNvSpPr/>
          <p:nvPr/>
        </p:nvSpPr>
        <p:spPr>
          <a:xfrm>
            <a:off x="6951092" y="1878211"/>
            <a:ext cx="1558826" cy="783729"/>
          </a:xfrm>
          <a:prstGeom prst="rect">
            <a:avLst/>
          </a:prstGeom>
          <a:noFill/>
          <a:ln/>
        </p:spPr>
        <p:txBody>
          <a:bodyPr wrap="square" lIns="0" tIns="0" rIns="0" bIns="0" rtlCol="0" anchor="t">
            <a:normAutofit/>
          </a:bodyPr>
          <a:lstStyle/>
          <a:p>
            <a:pPr marL="0" indent="0" algn="l">
              <a:lnSpc>
                <a:spcPct val="127000"/>
              </a:lnSpc>
              <a:buNone/>
            </a:pPr>
            <a:r>
              <a:rPr lang="en-US" sz="1000" dirty="0">
                <a:solidFill>
                  <a:srgbClr val="55575A"/>
                </a:solidFill>
                <a:latin typeface="Manrope" pitchFamily="34" charset="0"/>
                <a:ea typeface="Manrope" pitchFamily="34" charset="-122"/>
                <a:cs typeface="Manrope" pitchFamily="34" charset="-120"/>
              </a:rPr>
              <a:t>Classifies products as </a:t>
            </a:r>
            <a:r>
              <a:rPr lang="en-US" sz="1000" b="1" dirty="0">
                <a:solidFill>
                  <a:srgbClr val="55575A"/>
                </a:solidFill>
                <a:latin typeface="Manrope Bold" pitchFamily="34" charset="0"/>
                <a:ea typeface="Manrope Bold" pitchFamily="34" charset="-122"/>
                <a:cs typeface="Manrope Bold" pitchFamily="34" charset="-120"/>
              </a:rPr>
              <a:t>Budget</a:t>
            </a:r>
            <a:r>
              <a:rPr lang="en-US" sz="1000" dirty="0">
                <a:solidFill>
                  <a:srgbClr val="55575A"/>
                </a:solidFill>
                <a:latin typeface="Manrope" pitchFamily="34" charset="0"/>
                <a:ea typeface="Manrope" pitchFamily="34" charset="-122"/>
                <a:cs typeface="Manrope" pitchFamily="34" charset="-120"/>
              </a:rPr>
              <a:t>, </a:t>
            </a:r>
            <a:r>
              <a:rPr lang="en-US" sz="1000" b="1" dirty="0">
                <a:solidFill>
                  <a:srgbClr val="55575A"/>
                </a:solidFill>
                <a:latin typeface="Manrope Bold" pitchFamily="34" charset="0"/>
                <a:ea typeface="Manrope Bold" pitchFamily="34" charset="-122"/>
                <a:cs typeface="Manrope Bold" pitchFamily="34" charset="-120"/>
              </a:rPr>
              <a:t>Standard</a:t>
            </a:r>
            <a:r>
              <a:rPr lang="en-US" sz="1000" dirty="0">
                <a:solidFill>
                  <a:srgbClr val="55575A"/>
                </a:solidFill>
                <a:latin typeface="Manrope" pitchFamily="34" charset="0"/>
                <a:ea typeface="Manrope" pitchFamily="34" charset="-122"/>
                <a:cs typeface="Manrope" pitchFamily="34" charset="-120"/>
              </a:rPr>
              <a:t>, or </a:t>
            </a:r>
            <a:r>
              <a:rPr lang="en-US" sz="1000" b="1" dirty="0">
                <a:solidFill>
                  <a:srgbClr val="55575A"/>
                </a:solidFill>
                <a:latin typeface="Manrope Bold" pitchFamily="34" charset="0"/>
                <a:ea typeface="Manrope Bold" pitchFamily="34" charset="-122"/>
                <a:cs typeface="Manrope Bold" pitchFamily="34" charset="-120"/>
              </a:rPr>
              <a:t>Premium</a:t>
            </a:r>
            <a:r>
              <a:rPr lang="en-US" sz="1000" dirty="0">
                <a:solidFill>
                  <a:srgbClr val="55575A"/>
                </a:solidFill>
                <a:latin typeface="Manrope" pitchFamily="34" charset="0"/>
                <a:ea typeface="Manrope" pitchFamily="34" charset="-122"/>
                <a:cs typeface="Manrope" pitchFamily="34" charset="-120"/>
              </a:rPr>
              <a:t> based on the entered base price.</a:t>
            </a:r>
            <a:endParaRPr lang="en-US" sz="1000" dirty="0"/>
          </a:p>
        </p:txBody>
      </p:sp>
      <p:sp>
        <p:nvSpPr>
          <p:cNvPr id="31" name="Shape 27"/>
          <p:cNvSpPr/>
          <p:nvPr/>
        </p:nvSpPr>
        <p:spPr>
          <a:xfrm>
            <a:off x="4733479" y="2935635"/>
            <a:ext cx="3919165" cy="861492"/>
          </a:xfrm>
          <a:prstGeom prst="roundRect">
            <a:avLst>
              <a:gd name="adj" fmla="val 13422"/>
            </a:avLst>
          </a:prstGeom>
          <a:solidFill>
            <a:srgbClr val="FFD7CC"/>
          </a:solidFill>
          <a:ln/>
        </p:spPr>
        <p:txBody>
          <a:bodyPr/>
          <a:lstStyle/>
          <a:p>
            <a:endParaRPr lang="en-US"/>
          </a:p>
        </p:txBody>
      </p:sp>
      <p:pic>
        <p:nvPicPr>
          <p:cNvPr id="32" name="Image 2" descr="preencoded.png"/>
          <p:cNvPicPr>
            <a:picLocks noChangeAspect="1"/>
          </p:cNvPicPr>
          <p:nvPr/>
        </p:nvPicPr>
        <p:blipFill>
          <a:blip r:embed="rId4"/>
          <a:stretch>
            <a:fillRect/>
          </a:stretch>
        </p:blipFill>
        <p:spPr>
          <a:xfrm>
            <a:off x="4861917" y="3131344"/>
            <a:ext cx="160586" cy="128439"/>
          </a:xfrm>
          <a:prstGeom prst="rect">
            <a:avLst/>
          </a:prstGeom>
        </p:spPr>
      </p:pic>
      <p:sp>
        <p:nvSpPr>
          <p:cNvPr id="33" name="Text 28"/>
          <p:cNvSpPr/>
          <p:nvPr/>
        </p:nvSpPr>
        <p:spPr>
          <a:xfrm>
            <a:off x="5150941" y="3072482"/>
            <a:ext cx="3373264" cy="587797"/>
          </a:xfrm>
          <a:prstGeom prst="rect">
            <a:avLst/>
          </a:prstGeom>
          <a:noFill/>
          <a:ln/>
        </p:spPr>
        <p:txBody>
          <a:bodyPr wrap="square" lIns="0" tIns="0" rIns="0" bIns="0" rtlCol="0" anchor="t">
            <a:normAutofit/>
          </a:bodyPr>
          <a:lstStyle/>
          <a:p>
            <a:pPr marL="0" indent="0" algn="l">
              <a:lnSpc>
                <a:spcPct val="127000"/>
              </a:lnSpc>
              <a:buNone/>
            </a:pPr>
            <a:r>
              <a:rPr lang="en-US" sz="1000" dirty="0">
                <a:solidFill>
                  <a:srgbClr val="000000"/>
                </a:solidFill>
                <a:latin typeface="Manrope" pitchFamily="34" charset="0"/>
                <a:ea typeface="Manrope" pitchFamily="34" charset="-122"/>
                <a:cs typeface="Manrope" pitchFamily="34" charset="-120"/>
              </a:rPr>
              <a:t>Value Helps: Store (ZI_GS_STORE_VH) and Category (ZI_GS_CATEGORY_VH) let users select valid options without manual ID entry.</a:t>
            </a:r>
            <a:endParaRPr lang="en-US" sz="1000" dirty="0"/>
          </a:p>
        </p:txBody>
      </p:sp>
      <mc:AlternateContent xmlns:mc="http://schemas.openxmlformats.org/markup-compatibility/2006">
        <mc:Choice xmlns:p14="http://schemas.microsoft.com/office/powerpoint/2010/main" Requires="p14">
          <p:contentPart p14:bwMode="auto" r:id="rId5">
            <p14:nvContentPartPr>
              <p14:cNvPr id="39" name="Ink 38">
                <a:extLst>
                  <a:ext uri="{FF2B5EF4-FFF2-40B4-BE49-F238E27FC236}">
                    <a16:creationId xmlns:a16="http://schemas.microsoft.com/office/drawing/2014/main" id="{87666595-BA7E-D12E-65AB-160E6D41C643}"/>
                  </a:ext>
                </a:extLst>
              </p14:cNvPr>
              <p14:cNvContentPartPr/>
              <p14:nvPr/>
            </p14:nvContentPartPr>
            <p14:xfrm>
              <a:off x="8052726" y="4850806"/>
              <a:ext cx="937080" cy="158400"/>
            </p14:xfrm>
          </p:contentPart>
        </mc:Choice>
        <mc:Fallback>
          <p:pic>
            <p:nvPicPr>
              <p:cNvPr id="39" name="Ink 38">
                <a:extLst>
                  <a:ext uri="{FF2B5EF4-FFF2-40B4-BE49-F238E27FC236}">
                    <a16:creationId xmlns:a16="http://schemas.microsoft.com/office/drawing/2014/main" id="{87666595-BA7E-D12E-65AB-160E6D41C643}"/>
                  </a:ext>
                </a:extLst>
              </p:cNvPr>
              <p:cNvPicPr/>
              <p:nvPr/>
            </p:nvPicPr>
            <p:blipFill>
              <a:blip r:embed="rId6"/>
              <a:stretch>
                <a:fillRect/>
              </a:stretch>
            </p:blipFill>
            <p:spPr>
              <a:xfrm>
                <a:off x="7989726" y="4788166"/>
                <a:ext cx="1062720" cy="284040"/>
              </a:xfrm>
              <a:prstGeom prst="rect">
                <a:avLst/>
              </a:prstGeom>
            </p:spPr>
          </p:pic>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pic>
        <p:nvPicPr>
          <p:cNvPr id="3" name="Image 1" descr="preencoded.png"/>
          <p:cNvPicPr>
            <a:picLocks noChangeAspect="1"/>
          </p:cNvPicPr>
          <p:nvPr/>
        </p:nvPicPr>
        <p:blipFill>
          <a:blip r:embed="rId4"/>
          <a:stretch>
            <a:fillRect/>
          </a:stretch>
        </p:blipFill>
        <p:spPr>
          <a:xfrm>
            <a:off x="55364" y="359569"/>
            <a:ext cx="3318272" cy="4424363"/>
          </a:xfrm>
          <a:prstGeom prst="rect">
            <a:avLst/>
          </a:prstGeom>
        </p:spPr>
      </p:pic>
      <p:sp>
        <p:nvSpPr>
          <p:cNvPr id="4" name="Text 0"/>
          <p:cNvSpPr/>
          <p:nvPr/>
        </p:nvSpPr>
        <p:spPr>
          <a:xfrm>
            <a:off x="3925119" y="440754"/>
            <a:ext cx="4722763" cy="346100"/>
          </a:xfrm>
          <a:prstGeom prst="rect">
            <a:avLst/>
          </a:prstGeom>
          <a:noFill/>
          <a:ln/>
        </p:spPr>
        <p:txBody>
          <a:bodyPr wrap="none" lIns="0" tIns="0" rIns="0" bIns="0" rtlCol="0" anchor="t"/>
          <a:lstStyle/>
          <a:p>
            <a:pPr marL="0" indent="0" algn="l">
              <a:lnSpc>
                <a:spcPct val="104000"/>
              </a:lnSpc>
              <a:buNone/>
            </a:pPr>
            <a:r>
              <a:rPr lang="en-US" sz="2150" dirty="0">
                <a:solidFill>
                  <a:srgbClr val="0C0D0F"/>
                </a:solidFill>
                <a:latin typeface="Inter" pitchFamily="34" charset="0"/>
                <a:ea typeface="Inter" pitchFamily="34" charset="-122"/>
                <a:cs typeface="Inter" pitchFamily="34" charset="-120"/>
              </a:rPr>
              <a:t>User Guide &amp; Testing</a:t>
            </a:r>
            <a:endParaRPr lang="en-US" sz="2150" dirty="0"/>
          </a:p>
        </p:txBody>
      </p:sp>
      <p:sp>
        <p:nvSpPr>
          <p:cNvPr id="5" name="Text 1"/>
          <p:cNvSpPr/>
          <p:nvPr/>
        </p:nvSpPr>
        <p:spPr>
          <a:xfrm>
            <a:off x="3925119" y="916632"/>
            <a:ext cx="221456" cy="138410"/>
          </a:xfrm>
          <a:prstGeom prst="rect">
            <a:avLst/>
          </a:prstGeom>
          <a:noFill/>
          <a:ln/>
        </p:spPr>
        <p:txBody>
          <a:bodyPr wrap="none" lIns="0" tIns="0" rIns="0" bIns="0" rtlCol="0" anchor="ctr"/>
          <a:lstStyle/>
          <a:p>
            <a:pPr marL="0" indent="0" algn="l">
              <a:lnSpc>
                <a:spcPct val="100000"/>
              </a:lnSpc>
              <a:buNone/>
            </a:pPr>
            <a:r>
              <a:rPr lang="en-US" sz="850" dirty="0">
                <a:solidFill>
                  <a:srgbClr val="55575A"/>
                </a:solidFill>
                <a:latin typeface="Inter Light" pitchFamily="34" charset="0"/>
                <a:ea typeface="Inter Light" pitchFamily="34" charset="-122"/>
                <a:cs typeface="Inter Light" pitchFamily="34" charset="-120"/>
              </a:rPr>
              <a:t>01</a:t>
            </a:r>
            <a:endParaRPr lang="en-US" sz="850" dirty="0"/>
          </a:p>
        </p:txBody>
      </p:sp>
      <p:sp>
        <p:nvSpPr>
          <p:cNvPr id="6" name="Shape 2"/>
          <p:cNvSpPr/>
          <p:nvPr/>
        </p:nvSpPr>
        <p:spPr>
          <a:xfrm>
            <a:off x="3925119" y="1090538"/>
            <a:ext cx="4722763" cy="14288"/>
          </a:xfrm>
          <a:prstGeom prst="rect">
            <a:avLst/>
          </a:prstGeom>
          <a:solidFill>
            <a:srgbClr val="FF7047"/>
          </a:solidFill>
          <a:ln/>
        </p:spPr>
        <p:txBody>
          <a:bodyPr/>
          <a:lstStyle/>
          <a:p>
            <a:endParaRPr lang="en-US"/>
          </a:p>
        </p:txBody>
      </p:sp>
      <p:sp>
        <p:nvSpPr>
          <p:cNvPr id="7" name="Text 3"/>
          <p:cNvSpPr/>
          <p:nvPr/>
        </p:nvSpPr>
        <p:spPr>
          <a:xfrm>
            <a:off x="3925119" y="1174477"/>
            <a:ext cx="4722763" cy="173013"/>
          </a:xfrm>
          <a:prstGeom prst="rect">
            <a:avLst/>
          </a:prstGeom>
          <a:noFill/>
          <a:ln/>
        </p:spPr>
        <p:txBody>
          <a:bodyPr wrap="none" lIns="0" tIns="0" rIns="0" bIns="0" rtlCol="0" anchor="t"/>
          <a:lstStyle/>
          <a:p>
            <a:pPr marL="0" indent="0" algn="l">
              <a:lnSpc>
                <a:spcPct val="104000"/>
              </a:lnSpc>
              <a:buNone/>
            </a:pPr>
            <a:r>
              <a:rPr lang="en-US" sz="1050" dirty="0">
                <a:solidFill>
                  <a:srgbClr val="55575A"/>
                </a:solidFill>
                <a:latin typeface="Inter" pitchFamily="34" charset="0"/>
                <a:ea typeface="Inter" pitchFamily="34" charset="-122"/>
                <a:cs typeface="Inter" pitchFamily="34" charset="-120"/>
              </a:rPr>
              <a:t>Launch the Application</a:t>
            </a:r>
            <a:endParaRPr lang="en-US" sz="1050" dirty="0"/>
          </a:p>
        </p:txBody>
      </p:sp>
      <p:sp>
        <p:nvSpPr>
          <p:cNvPr id="8" name="Text 4"/>
          <p:cNvSpPr/>
          <p:nvPr/>
        </p:nvSpPr>
        <p:spPr>
          <a:xfrm>
            <a:off x="3925119" y="1399356"/>
            <a:ext cx="4722763" cy="157758"/>
          </a:xfrm>
          <a:prstGeom prst="rect">
            <a:avLst/>
          </a:prstGeom>
          <a:noFill/>
          <a:ln/>
        </p:spPr>
        <p:txBody>
          <a:bodyPr wrap="none" lIns="0" tIns="0" rIns="0" bIns="0" rtlCol="0" anchor="t"/>
          <a:lstStyle/>
          <a:p>
            <a:pPr marL="0" indent="0" algn="l">
              <a:lnSpc>
                <a:spcPct val="119000"/>
              </a:lnSpc>
              <a:buNone/>
            </a:pPr>
            <a:r>
              <a:rPr lang="en-US" sz="850" dirty="0">
                <a:solidFill>
                  <a:srgbClr val="55575A"/>
                </a:solidFill>
                <a:latin typeface="Manrope" pitchFamily="34" charset="0"/>
                <a:ea typeface="Manrope" pitchFamily="34" charset="-122"/>
                <a:cs typeface="Manrope" pitchFamily="34" charset="-120"/>
              </a:rPr>
              <a:t>Open from SAP Fiori Launchpad — List Report displays all product records.</a:t>
            </a:r>
            <a:endParaRPr lang="en-US" sz="850" dirty="0"/>
          </a:p>
        </p:txBody>
      </p:sp>
      <p:sp>
        <p:nvSpPr>
          <p:cNvPr id="9" name="Text 5"/>
          <p:cNvSpPr/>
          <p:nvPr/>
        </p:nvSpPr>
        <p:spPr>
          <a:xfrm>
            <a:off x="3925119" y="1726629"/>
            <a:ext cx="221456" cy="138410"/>
          </a:xfrm>
          <a:prstGeom prst="rect">
            <a:avLst/>
          </a:prstGeom>
          <a:noFill/>
          <a:ln/>
        </p:spPr>
        <p:txBody>
          <a:bodyPr wrap="none" lIns="0" tIns="0" rIns="0" bIns="0" rtlCol="0" anchor="ctr"/>
          <a:lstStyle/>
          <a:p>
            <a:pPr marL="0" indent="0" algn="l">
              <a:lnSpc>
                <a:spcPct val="100000"/>
              </a:lnSpc>
              <a:buNone/>
            </a:pPr>
            <a:r>
              <a:rPr lang="en-US" sz="850" dirty="0">
                <a:solidFill>
                  <a:srgbClr val="55575A"/>
                </a:solidFill>
                <a:latin typeface="Inter Light" pitchFamily="34" charset="0"/>
                <a:ea typeface="Inter Light" pitchFamily="34" charset="-122"/>
                <a:cs typeface="Inter Light" pitchFamily="34" charset="-120"/>
              </a:rPr>
              <a:t>02</a:t>
            </a:r>
            <a:endParaRPr lang="en-US" sz="850" dirty="0"/>
          </a:p>
        </p:txBody>
      </p:sp>
      <p:sp>
        <p:nvSpPr>
          <p:cNvPr id="10" name="Shape 6"/>
          <p:cNvSpPr/>
          <p:nvPr/>
        </p:nvSpPr>
        <p:spPr>
          <a:xfrm>
            <a:off x="3925119" y="1900535"/>
            <a:ext cx="4722763" cy="14288"/>
          </a:xfrm>
          <a:prstGeom prst="rect">
            <a:avLst/>
          </a:prstGeom>
          <a:solidFill>
            <a:srgbClr val="FF7047"/>
          </a:solidFill>
          <a:ln/>
        </p:spPr>
        <p:txBody>
          <a:bodyPr/>
          <a:lstStyle/>
          <a:p>
            <a:endParaRPr lang="en-US"/>
          </a:p>
        </p:txBody>
      </p:sp>
      <p:sp>
        <p:nvSpPr>
          <p:cNvPr id="11" name="Text 7"/>
          <p:cNvSpPr/>
          <p:nvPr/>
        </p:nvSpPr>
        <p:spPr>
          <a:xfrm>
            <a:off x="3925119" y="1984474"/>
            <a:ext cx="4722763" cy="173013"/>
          </a:xfrm>
          <a:prstGeom prst="rect">
            <a:avLst/>
          </a:prstGeom>
          <a:noFill/>
          <a:ln/>
        </p:spPr>
        <p:txBody>
          <a:bodyPr wrap="none" lIns="0" tIns="0" rIns="0" bIns="0" rtlCol="0" anchor="t"/>
          <a:lstStyle/>
          <a:p>
            <a:pPr marL="0" indent="0" algn="l">
              <a:lnSpc>
                <a:spcPct val="104000"/>
              </a:lnSpc>
              <a:buNone/>
            </a:pPr>
            <a:r>
              <a:rPr lang="en-US" sz="1050" dirty="0">
                <a:solidFill>
                  <a:srgbClr val="55575A"/>
                </a:solidFill>
                <a:latin typeface="Inter" pitchFamily="34" charset="0"/>
                <a:ea typeface="Inter" pitchFamily="34" charset="-122"/>
                <a:cs typeface="Inter" pitchFamily="34" charset="-120"/>
              </a:rPr>
              <a:t>Create or Edit Records</a:t>
            </a:r>
            <a:endParaRPr lang="en-US" sz="1050" dirty="0"/>
          </a:p>
        </p:txBody>
      </p:sp>
      <p:sp>
        <p:nvSpPr>
          <p:cNvPr id="12" name="Text 8"/>
          <p:cNvSpPr/>
          <p:nvPr/>
        </p:nvSpPr>
        <p:spPr>
          <a:xfrm>
            <a:off x="3925119" y="2209354"/>
            <a:ext cx="4722763" cy="157758"/>
          </a:xfrm>
          <a:prstGeom prst="rect">
            <a:avLst/>
          </a:prstGeom>
          <a:noFill/>
          <a:ln/>
        </p:spPr>
        <p:txBody>
          <a:bodyPr wrap="none" lIns="0" tIns="0" rIns="0" bIns="0" rtlCol="0" anchor="t"/>
          <a:lstStyle/>
          <a:p>
            <a:pPr marL="0" indent="0" algn="l">
              <a:lnSpc>
                <a:spcPct val="119000"/>
              </a:lnSpc>
              <a:buNone/>
            </a:pPr>
            <a:r>
              <a:rPr lang="en-US" sz="850" dirty="0">
                <a:solidFill>
                  <a:srgbClr val="55575A"/>
                </a:solidFill>
                <a:latin typeface="Manrope" pitchFamily="34" charset="0"/>
                <a:ea typeface="Manrope" pitchFamily="34" charset="-122"/>
                <a:cs typeface="Manrope" pitchFamily="34" charset="-120"/>
              </a:rPr>
              <a:t>Use </a:t>
            </a:r>
            <a:r>
              <a:rPr lang="en-US" sz="850" b="1" dirty="0">
                <a:solidFill>
                  <a:srgbClr val="55575A"/>
                </a:solidFill>
                <a:latin typeface="Manrope Bold" pitchFamily="34" charset="0"/>
                <a:ea typeface="Manrope Bold" pitchFamily="34" charset="-122"/>
                <a:cs typeface="Manrope Bold" pitchFamily="34" charset="-120"/>
              </a:rPr>
              <a:t>Create</a:t>
            </a:r>
            <a:r>
              <a:rPr lang="en-US" sz="850" dirty="0">
                <a:solidFill>
                  <a:srgbClr val="55575A"/>
                </a:solidFill>
                <a:latin typeface="Manrope" pitchFamily="34" charset="0"/>
                <a:ea typeface="Manrope" pitchFamily="34" charset="-122"/>
                <a:cs typeface="Manrope" pitchFamily="34" charset="-120"/>
              </a:rPr>
              <a:t> or </a:t>
            </a:r>
            <a:r>
              <a:rPr lang="en-US" sz="850" b="1" dirty="0">
                <a:solidFill>
                  <a:srgbClr val="55575A"/>
                </a:solidFill>
                <a:latin typeface="Manrope Bold" pitchFamily="34" charset="0"/>
                <a:ea typeface="Manrope Bold" pitchFamily="34" charset="-122"/>
                <a:cs typeface="Manrope Bold" pitchFamily="34" charset="-120"/>
              </a:rPr>
              <a:t>Edit</a:t>
            </a:r>
            <a:r>
              <a:rPr lang="en-US" sz="850" dirty="0">
                <a:solidFill>
                  <a:srgbClr val="55575A"/>
                </a:solidFill>
                <a:latin typeface="Manrope" pitchFamily="34" charset="0"/>
                <a:ea typeface="Manrope" pitchFamily="34" charset="-122"/>
                <a:cs typeface="Manrope" pitchFamily="34" charset="-120"/>
              </a:rPr>
              <a:t>; changes save as drafts until activated.</a:t>
            </a:r>
            <a:endParaRPr lang="en-US" sz="850" dirty="0"/>
          </a:p>
        </p:txBody>
      </p:sp>
      <p:sp>
        <p:nvSpPr>
          <p:cNvPr id="13" name="Text 9"/>
          <p:cNvSpPr/>
          <p:nvPr/>
        </p:nvSpPr>
        <p:spPr>
          <a:xfrm>
            <a:off x="3925119" y="2536627"/>
            <a:ext cx="221456" cy="138410"/>
          </a:xfrm>
          <a:prstGeom prst="rect">
            <a:avLst/>
          </a:prstGeom>
          <a:noFill/>
          <a:ln/>
        </p:spPr>
        <p:txBody>
          <a:bodyPr wrap="none" lIns="0" tIns="0" rIns="0" bIns="0" rtlCol="0" anchor="ctr"/>
          <a:lstStyle/>
          <a:p>
            <a:pPr marL="0" indent="0" algn="l">
              <a:lnSpc>
                <a:spcPct val="100000"/>
              </a:lnSpc>
              <a:buNone/>
            </a:pPr>
            <a:r>
              <a:rPr lang="en-US" sz="850" dirty="0">
                <a:solidFill>
                  <a:srgbClr val="55575A"/>
                </a:solidFill>
                <a:latin typeface="Inter Light" pitchFamily="34" charset="0"/>
                <a:ea typeface="Inter Light" pitchFamily="34" charset="-122"/>
                <a:cs typeface="Inter Light" pitchFamily="34" charset="-120"/>
              </a:rPr>
              <a:t>03</a:t>
            </a:r>
            <a:endParaRPr lang="en-US" sz="850" dirty="0"/>
          </a:p>
        </p:txBody>
      </p:sp>
      <p:sp>
        <p:nvSpPr>
          <p:cNvPr id="14" name="Shape 10"/>
          <p:cNvSpPr/>
          <p:nvPr/>
        </p:nvSpPr>
        <p:spPr>
          <a:xfrm>
            <a:off x="3925119" y="2710532"/>
            <a:ext cx="4722763" cy="14288"/>
          </a:xfrm>
          <a:prstGeom prst="rect">
            <a:avLst/>
          </a:prstGeom>
          <a:solidFill>
            <a:srgbClr val="FF7047"/>
          </a:solidFill>
          <a:ln/>
        </p:spPr>
        <p:txBody>
          <a:bodyPr/>
          <a:lstStyle/>
          <a:p>
            <a:endParaRPr lang="en-US"/>
          </a:p>
        </p:txBody>
      </p:sp>
      <p:sp>
        <p:nvSpPr>
          <p:cNvPr id="15" name="Text 11"/>
          <p:cNvSpPr/>
          <p:nvPr/>
        </p:nvSpPr>
        <p:spPr>
          <a:xfrm>
            <a:off x="3925119" y="2794471"/>
            <a:ext cx="4722763" cy="173013"/>
          </a:xfrm>
          <a:prstGeom prst="rect">
            <a:avLst/>
          </a:prstGeom>
          <a:noFill/>
          <a:ln/>
        </p:spPr>
        <p:txBody>
          <a:bodyPr wrap="none" lIns="0" tIns="0" rIns="0" bIns="0" rtlCol="0" anchor="t"/>
          <a:lstStyle/>
          <a:p>
            <a:pPr marL="0" indent="0" algn="l">
              <a:lnSpc>
                <a:spcPct val="104000"/>
              </a:lnSpc>
              <a:buNone/>
            </a:pPr>
            <a:r>
              <a:rPr lang="en-US" sz="1050" dirty="0">
                <a:solidFill>
                  <a:srgbClr val="55575A"/>
                </a:solidFill>
                <a:latin typeface="Inter" pitchFamily="34" charset="0"/>
                <a:ea typeface="Inter" pitchFamily="34" charset="-122"/>
                <a:cs typeface="Inter" pitchFamily="34" charset="-120"/>
              </a:rPr>
              <a:t>Search, Filter &amp; Sort</a:t>
            </a:r>
            <a:endParaRPr lang="en-US" sz="1050" dirty="0"/>
          </a:p>
        </p:txBody>
      </p:sp>
      <p:sp>
        <p:nvSpPr>
          <p:cNvPr id="16" name="Text 12"/>
          <p:cNvSpPr/>
          <p:nvPr/>
        </p:nvSpPr>
        <p:spPr>
          <a:xfrm>
            <a:off x="3925119" y="3019351"/>
            <a:ext cx="4722763" cy="157758"/>
          </a:xfrm>
          <a:prstGeom prst="rect">
            <a:avLst/>
          </a:prstGeom>
          <a:noFill/>
          <a:ln/>
        </p:spPr>
        <p:txBody>
          <a:bodyPr wrap="none" lIns="0" tIns="0" rIns="0" bIns="0" rtlCol="0" anchor="t"/>
          <a:lstStyle/>
          <a:p>
            <a:pPr marL="0" indent="0" algn="l">
              <a:lnSpc>
                <a:spcPct val="119000"/>
              </a:lnSpc>
              <a:buNone/>
            </a:pPr>
            <a:r>
              <a:rPr lang="en-US" sz="850" dirty="0">
                <a:solidFill>
                  <a:srgbClr val="55575A"/>
                </a:solidFill>
                <a:latin typeface="Manrope" pitchFamily="34" charset="0"/>
                <a:ea typeface="Manrope" pitchFamily="34" charset="-122"/>
                <a:cs typeface="Manrope" pitchFamily="34" charset="-120"/>
              </a:rPr>
              <a:t>Locate records by ID, name, store, or category; sort by price.</a:t>
            </a:r>
            <a:endParaRPr lang="en-US" sz="850" dirty="0"/>
          </a:p>
        </p:txBody>
      </p:sp>
      <p:sp>
        <p:nvSpPr>
          <p:cNvPr id="17" name="Text 13"/>
          <p:cNvSpPr/>
          <p:nvPr/>
        </p:nvSpPr>
        <p:spPr>
          <a:xfrm>
            <a:off x="3925119" y="3346624"/>
            <a:ext cx="221456" cy="138410"/>
          </a:xfrm>
          <a:prstGeom prst="rect">
            <a:avLst/>
          </a:prstGeom>
          <a:noFill/>
          <a:ln/>
        </p:spPr>
        <p:txBody>
          <a:bodyPr wrap="none" lIns="0" tIns="0" rIns="0" bIns="0" rtlCol="0" anchor="ctr"/>
          <a:lstStyle/>
          <a:p>
            <a:pPr marL="0" indent="0" algn="l">
              <a:lnSpc>
                <a:spcPct val="100000"/>
              </a:lnSpc>
              <a:buNone/>
            </a:pPr>
            <a:r>
              <a:rPr lang="en-US" sz="850" dirty="0">
                <a:solidFill>
                  <a:srgbClr val="55575A"/>
                </a:solidFill>
                <a:latin typeface="Inter Light" pitchFamily="34" charset="0"/>
                <a:ea typeface="Inter Light" pitchFamily="34" charset="-122"/>
                <a:cs typeface="Inter Light" pitchFamily="34" charset="-120"/>
              </a:rPr>
              <a:t>04</a:t>
            </a:r>
            <a:endParaRPr lang="en-US" sz="850" dirty="0"/>
          </a:p>
        </p:txBody>
      </p:sp>
      <p:sp>
        <p:nvSpPr>
          <p:cNvPr id="18" name="Shape 14"/>
          <p:cNvSpPr/>
          <p:nvPr/>
        </p:nvSpPr>
        <p:spPr>
          <a:xfrm>
            <a:off x="3925119" y="3520529"/>
            <a:ext cx="4722763" cy="14288"/>
          </a:xfrm>
          <a:prstGeom prst="rect">
            <a:avLst/>
          </a:prstGeom>
          <a:solidFill>
            <a:srgbClr val="FF7047"/>
          </a:solidFill>
          <a:ln/>
        </p:spPr>
        <p:txBody>
          <a:bodyPr/>
          <a:lstStyle/>
          <a:p>
            <a:endParaRPr lang="en-US"/>
          </a:p>
        </p:txBody>
      </p:sp>
      <p:sp>
        <p:nvSpPr>
          <p:cNvPr id="19" name="Text 15"/>
          <p:cNvSpPr/>
          <p:nvPr/>
        </p:nvSpPr>
        <p:spPr>
          <a:xfrm>
            <a:off x="3925119" y="3604468"/>
            <a:ext cx="4722763" cy="173013"/>
          </a:xfrm>
          <a:prstGeom prst="rect">
            <a:avLst/>
          </a:prstGeom>
          <a:noFill/>
          <a:ln/>
        </p:spPr>
        <p:txBody>
          <a:bodyPr wrap="none" lIns="0" tIns="0" rIns="0" bIns="0" rtlCol="0" anchor="t"/>
          <a:lstStyle/>
          <a:p>
            <a:pPr marL="0" indent="0" algn="l">
              <a:lnSpc>
                <a:spcPct val="104000"/>
              </a:lnSpc>
              <a:buNone/>
            </a:pPr>
            <a:r>
              <a:rPr lang="en-US" sz="1050" dirty="0">
                <a:solidFill>
                  <a:srgbClr val="55575A"/>
                </a:solidFill>
                <a:latin typeface="Inter" pitchFamily="34" charset="0"/>
                <a:ea typeface="Inter" pitchFamily="34" charset="-122"/>
                <a:cs typeface="Inter" pitchFamily="34" charset="-120"/>
              </a:rPr>
              <a:t>Delete Records</a:t>
            </a:r>
            <a:endParaRPr lang="en-US" sz="1050" dirty="0"/>
          </a:p>
        </p:txBody>
      </p:sp>
      <p:sp>
        <p:nvSpPr>
          <p:cNvPr id="20" name="Text 16"/>
          <p:cNvSpPr/>
          <p:nvPr/>
        </p:nvSpPr>
        <p:spPr>
          <a:xfrm>
            <a:off x="3925119" y="3829348"/>
            <a:ext cx="4722763" cy="157758"/>
          </a:xfrm>
          <a:prstGeom prst="rect">
            <a:avLst/>
          </a:prstGeom>
          <a:noFill/>
          <a:ln/>
        </p:spPr>
        <p:txBody>
          <a:bodyPr wrap="none" lIns="0" tIns="0" rIns="0" bIns="0" rtlCol="0" anchor="t"/>
          <a:lstStyle/>
          <a:p>
            <a:pPr marL="0" indent="0" algn="l">
              <a:lnSpc>
                <a:spcPct val="119000"/>
              </a:lnSpc>
              <a:buNone/>
            </a:pPr>
            <a:r>
              <a:rPr lang="en-US" sz="850" dirty="0">
                <a:solidFill>
                  <a:srgbClr val="55575A"/>
                </a:solidFill>
                <a:latin typeface="Manrope" pitchFamily="34" charset="0"/>
                <a:ea typeface="Manrope" pitchFamily="34" charset="-122"/>
                <a:cs typeface="Manrope" pitchFamily="34" charset="-120"/>
              </a:rPr>
              <a:t>Remove obsolete items via confirmation dialog to prevent accidental deletion.</a:t>
            </a:r>
            <a:endParaRPr lang="en-US" sz="850" dirty="0"/>
          </a:p>
        </p:txBody>
      </p:sp>
      <p:sp>
        <p:nvSpPr>
          <p:cNvPr id="21" name="Shape 17"/>
          <p:cNvSpPr/>
          <p:nvPr/>
        </p:nvSpPr>
        <p:spPr>
          <a:xfrm>
            <a:off x="3925119" y="4167485"/>
            <a:ext cx="4722763" cy="535186"/>
          </a:xfrm>
          <a:prstGeom prst="roundRect">
            <a:avLst>
              <a:gd name="adj" fmla="val 18625"/>
            </a:avLst>
          </a:prstGeom>
          <a:solidFill>
            <a:srgbClr val="B6FCB8"/>
          </a:solidFill>
          <a:ln/>
        </p:spPr>
        <p:txBody>
          <a:bodyPr/>
          <a:lstStyle/>
          <a:p>
            <a:endParaRPr lang="en-US"/>
          </a:p>
        </p:txBody>
      </p:sp>
      <p:pic>
        <p:nvPicPr>
          <p:cNvPr id="22" name="Image 2" descr="preencoded.png"/>
          <p:cNvPicPr>
            <a:picLocks noChangeAspect="1"/>
          </p:cNvPicPr>
          <p:nvPr/>
        </p:nvPicPr>
        <p:blipFill>
          <a:blip r:embed="rId5"/>
          <a:stretch>
            <a:fillRect/>
          </a:stretch>
        </p:blipFill>
        <p:spPr>
          <a:xfrm>
            <a:off x="4035847" y="4313783"/>
            <a:ext cx="138410" cy="110728"/>
          </a:xfrm>
          <a:prstGeom prst="rect">
            <a:avLst/>
          </a:prstGeom>
        </p:spPr>
      </p:pic>
      <p:sp>
        <p:nvSpPr>
          <p:cNvPr id="23" name="Text 18"/>
          <p:cNvSpPr/>
          <p:nvPr/>
        </p:nvSpPr>
        <p:spPr>
          <a:xfrm>
            <a:off x="4284985" y="4281636"/>
            <a:ext cx="4252168" cy="315516"/>
          </a:xfrm>
          <a:prstGeom prst="rect">
            <a:avLst/>
          </a:prstGeom>
          <a:noFill/>
          <a:ln/>
        </p:spPr>
        <p:txBody>
          <a:bodyPr wrap="square" lIns="0" tIns="0" rIns="0" bIns="0" rtlCol="0" anchor="t">
            <a:normAutofit/>
          </a:bodyPr>
          <a:lstStyle/>
          <a:p>
            <a:pPr marL="0" indent="0" algn="l">
              <a:lnSpc>
                <a:spcPct val="119000"/>
              </a:lnSpc>
              <a:buNone/>
            </a:pPr>
            <a:r>
              <a:rPr lang="en-US" sz="850" b="1" dirty="0">
                <a:solidFill>
                  <a:srgbClr val="000000"/>
                </a:solidFill>
                <a:latin typeface="Manrope Bold" pitchFamily="34" charset="0"/>
                <a:ea typeface="Manrope Bold" pitchFamily="34" charset="-122"/>
                <a:cs typeface="Manrope Bold" pitchFamily="34" charset="-120"/>
              </a:rPr>
              <a:t>Testing:</a:t>
            </a:r>
            <a:r>
              <a:rPr lang="en-US" sz="850" dirty="0">
                <a:solidFill>
                  <a:srgbClr val="000000"/>
                </a:solidFill>
                <a:latin typeface="Manrope" pitchFamily="34" charset="0"/>
                <a:ea typeface="Manrope" pitchFamily="34" charset="-122"/>
                <a:cs typeface="Manrope" pitchFamily="34" charset="-120"/>
              </a:rPr>
              <a:t> All CRUD, draft, validation, and UI test cases passed. Error handling verified for missing fields, duplicates, and invalid prices.</a:t>
            </a:r>
            <a:endParaRPr lang="en-US" sz="850" dirty="0"/>
          </a:p>
        </p:txBody>
      </p:sp>
      <mc:AlternateContent xmlns:mc="http://schemas.openxmlformats.org/markup-compatibility/2006">
        <mc:Choice xmlns:p14="http://schemas.microsoft.com/office/powerpoint/2010/main" Requires="p14">
          <p:contentPart p14:bwMode="auto" r:id="rId6">
            <p14:nvContentPartPr>
              <p14:cNvPr id="25" name="Ink 24">
                <a:extLst>
                  <a:ext uri="{FF2B5EF4-FFF2-40B4-BE49-F238E27FC236}">
                    <a16:creationId xmlns:a16="http://schemas.microsoft.com/office/drawing/2014/main" id="{1898CB02-D55E-4375-2017-BC50F0C09BB8}"/>
                  </a:ext>
                </a:extLst>
              </p14:cNvPr>
              <p14:cNvContentPartPr/>
              <p14:nvPr/>
            </p14:nvContentPartPr>
            <p14:xfrm>
              <a:off x="8083686" y="4886806"/>
              <a:ext cx="928800" cy="120960"/>
            </p14:xfrm>
          </p:contentPart>
        </mc:Choice>
        <mc:Fallback>
          <p:pic>
            <p:nvPicPr>
              <p:cNvPr id="25" name="Ink 24">
                <a:extLst>
                  <a:ext uri="{FF2B5EF4-FFF2-40B4-BE49-F238E27FC236}">
                    <a16:creationId xmlns:a16="http://schemas.microsoft.com/office/drawing/2014/main" id="{1898CB02-D55E-4375-2017-BC50F0C09BB8}"/>
                  </a:ext>
                </a:extLst>
              </p:cNvPr>
              <p:cNvPicPr/>
              <p:nvPr/>
            </p:nvPicPr>
            <p:blipFill>
              <a:blip r:embed="rId7"/>
              <a:stretch>
                <a:fillRect/>
              </a:stretch>
            </p:blipFill>
            <p:spPr>
              <a:xfrm>
                <a:off x="8021046" y="4823806"/>
                <a:ext cx="1054440" cy="246600"/>
              </a:xfrm>
              <a:prstGeom prst="rect">
                <a:avLst/>
              </a:prstGeom>
            </p:spPr>
          </p:pic>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96119" y="403994"/>
            <a:ext cx="8151763" cy="422300"/>
          </a:xfrm>
          <a:prstGeom prst="rect">
            <a:avLst/>
          </a:prstGeom>
          <a:noFill/>
          <a:ln/>
        </p:spPr>
        <p:txBody>
          <a:bodyPr wrap="none" lIns="0" tIns="0" rIns="0" bIns="0" rtlCol="0" anchor="t"/>
          <a:lstStyle/>
          <a:p>
            <a:pPr marL="0" indent="0" algn="l">
              <a:lnSpc>
                <a:spcPct val="104000"/>
              </a:lnSpc>
              <a:buNone/>
            </a:pPr>
            <a:r>
              <a:rPr lang="en-US" sz="2650" dirty="0">
                <a:solidFill>
                  <a:srgbClr val="0C0D0F"/>
                </a:solidFill>
                <a:latin typeface="Inter" pitchFamily="34" charset="0"/>
                <a:ea typeface="Inter" pitchFamily="34" charset="-122"/>
                <a:cs typeface="Inter" pitchFamily="34" charset="-120"/>
              </a:rPr>
              <a:t>Conclusion &amp; Future Enhancements</a:t>
            </a:r>
            <a:endParaRPr lang="en-US" sz="2650" dirty="0"/>
          </a:p>
        </p:txBody>
      </p:sp>
      <p:sp>
        <p:nvSpPr>
          <p:cNvPr id="3" name="Text 1"/>
          <p:cNvSpPr/>
          <p:nvPr/>
        </p:nvSpPr>
        <p:spPr>
          <a:xfrm>
            <a:off x="496119" y="1148209"/>
            <a:ext cx="3911054" cy="211113"/>
          </a:xfrm>
          <a:prstGeom prst="rect">
            <a:avLst/>
          </a:prstGeom>
          <a:noFill/>
          <a:ln/>
        </p:spPr>
        <p:txBody>
          <a:bodyPr wrap="none" lIns="0" tIns="0" rIns="0" bIns="0" rtlCol="0" anchor="t"/>
          <a:lstStyle/>
          <a:p>
            <a:pPr marL="0" indent="0" algn="l">
              <a:lnSpc>
                <a:spcPct val="104000"/>
              </a:lnSpc>
              <a:buNone/>
            </a:pPr>
            <a:r>
              <a:rPr lang="en-US" sz="1300" dirty="0">
                <a:solidFill>
                  <a:srgbClr val="0C0D0F"/>
                </a:solidFill>
                <a:latin typeface="Inter" pitchFamily="34" charset="0"/>
                <a:ea typeface="Inter" pitchFamily="34" charset="-122"/>
                <a:cs typeface="Inter" pitchFamily="34" charset="-120"/>
              </a:rPr>
              <a:t>What We Delivered</a:t>
            </a:r>
            <a:endParaRPr lang="en-US" sz="1300" dirty="0"/>
          </a:p>
        </p:txBody>
      </p:sp>
      <p:sp>
        <p:nvSpPr>
          <p:cNvPr id="4" name="Text 2"/>
          <p:cNvSpPr/>
          <p:nvPr/>
        </p:nvSpPr>
        <p:spPr>
          <a:xfrm>
            <a:off x="496119" y="1488058"/>
            <a:ext cx="3911054" cy="1055563"/>
          </a:xfrm>
          <a:prstGeom prst="rect">
            <a:avLst/>
          </a:prstGeom>
          <a:noFill/>
          <a:ln/>
        </p:spPr>
        <p:txBody>
          <a:bodyPr wrap="square" lIns="0" tIns="0" rIns="0" bIns="0" rtlCol="0" anchor="t">
            <a:normAutofit/>
          </a:bodyPr>
          <a:lstStyle/>
          <a:p>
            <a:pPr marL="0" indent="0" algn="l">
              <a:lnSpc>
                <a:spcPct val="130000"/>
              </a:lnSpc>
              <a:buNone/>
            </a:pPr>
            <a:r>
              <a:rPr lang="en-US" sz="1050" dirty="0">
                <a:solidFill>
                  <a:srgbClr val="55575A"/>
                </a:solidFill>
                <a:latin typeface="Manrope" pitchFamily="34" charset="0"/>
                <a:ea typeface="Manrope" pitchFamily="34" charset="-122"/>
                <a:cs typeface="Manrope" pitchFamily="34" charset="-120"/>
              </a:rPr>
              <a:t>The Grocery Store Management System demonstrates SAP RAP using ABAP Cloud, CDS View Entities, Behavior Definitions, OData V4, and SAP Fiori Elements — with full CRUD, draft management, semantic key validation, value helps, and business validations ensuring transactional consistency.</a:t>
            </a:r>
            <a:endParaRPr lang="en-US" sz="1050" dirty="0"/>
          </a:p>
        </p:txBody>
      </p:sp>
      <p:sp>
        <p:nvSpPr>
          <p:cNvPr id="5" name="Shape 3"/>
          <p:cNvSpPr/>
          <p:nvPr/>
        </p:nvSpPr>
        <p:spPr>
          <a:xfrm>
            <a:off x="496119" y="2688506"/>
            <a:ext cx="3911054" cy="932483"/>
          </a:xfrm>
          <a:prstGeom prst="roundRect">
            <a:avLst>
              <a:gd name="adj" fmla="val 13042"/>
            </a:avLst>
          </a:prstGeom>
          <a:solidFill>
            <a:srgbClr val="FFD7CC"/>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631180" y="2891433"/>
            <a:ext cx="168846" cy="135062"/>
          </a:xfrm>
          <a:prstGeom prst="rect">
            <a:avLst/>
          </a:prstGeom>
        </p:spPr>
      </p:pic>
      <p:sp>
        <p:nvSpPr>
          <p:cNvPr id="7" name="Text 4"/>
          <p:cNvSpPr/>
          <p:nvPr/>
        </p:nvSpPr>
        <p:spPr>
          <a:xfrm>
            <a:off x="935087" y="2838078"/>
            <a:ext cx="3337024" cy="633338"/>
          </a:xfrm>
          <a:prstGeom prst="rect">
            <a:avLst/>
          </a:prstGeom>
          <a:noFill/>
          <a:ln/>
        </p:spPr>
        <p:txBody>
          <a:bodyPr wrap="square" lIns="0" tIns="0" rIns="0" bIns="0" rtlCol="0" anchor="t">
            <a:normAutofit/>
          </a:bodyPr>
          <a:lstStyle/>
          <a:p>
            <a:pPr marL="0" indent="0" algn="l">
              <a:lnSpc>
                <a:spcPct val="130000"/>
              </a:lnSpc>
              <a:buNone/>
            </a:pPr>
            <a:r>
              <a:rPr lang="en-US" sz="1050" dirty="0">
                <a:solidFill>
                  <a:srgbClr val="000000"/>
                </a:solidFill>
                <a:latin typeface="Manrope" pitchFamily="34" charset="0"/>
                <a:ea typeface="Manrope" pitchFamily="34" charset="-122"/>
                <a:cs typeface="Manrope" pitchFamily="34" charset="-120"/>
              </a:rPr>
              <a:t>This project provides a scalable foundation for future retail management enhancements and showcases modern SAP Cloud development practices.</a:t>
            </a:r>
            <a:endParaRPr lang="en-US" sz="1050" dirty="0"/>
          </a:p>
        </p:txBody>
      </p:sp>
      <p:sp>
        <p:nvSpPr>
          <p:cNvPr id="8" name="Text 5"/>
          <p:cNvSpPr/>
          <p:nvPr/>
        </p:nvSpPr>
        <p:spPr>
          <a:xfrm>
            <a:off x="4741590" y="1148209"/>
            <a:ext cx="3911054" cy="211113"/>
          </a:xfrm>
          <a:prstGeom prst="rect">
            <a:avLst/>
          </a:prstGeom>
          <a:noFill/>
          <a:ln/>
        </p:spPr>
        <p:txBody>
          <a:bodyPr wrap="none" lIns="0" tIns="0" rIns="0" bIns="0" rtlCol="0" anchor="t"/>
          <a:lstStyle/>
          <a:p>
            <a:pPr marL="0" indent="0" algn="l">
              <a:lnSpc>
                <a:spcPct val="104000"/>
              </a:lnSpc>
              <a:buNone/>
            </a:pPr>
            <a:r>
              <a:rPr lang="en-US" sz="1300" dirty="0">
                <a:solidFill>
                  <a:srgbClr val="0C0D0F"/>
                </a:solidFill>
                <a:latin typeface="Inter" pitchFamily="34" charset="0"/>
                <a:ea typeface="Inter" pitchFamily="34" charset="-122"/>
                <a:cs typeface="Inter" pitchFamily="34" charset="-120"/>
              </a:rPr>
              <a:t>Future Enhancements</a:t>
            </a:r>
            <a:endParaRPr lang="en-US" sz="1300"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92266" y="1510866"/>
            <a:ext cx="202629" cy="202629"/>
          </a:xfrm>
          <a:prstGeom prst="rect">
            <a:avLst/>
          </a:prstGeom>
        </p:spPr>
      </p:pic>
      <p:sp>
        <p:nvSpPr>
          <p:cNvPr id="10" name="Text 6"/>
          <p:cNvSpPr/>
          <p:nvPr/>
        </p:nvSpPr>
        <p:spPr>
          <a:xfrm>
            <a:off x="5180633" y="1504206"/>
            <a:ext cx="3472011" cy="211113"/>
          </a:xfrm>
          <a:prstGeom prst="rect">
            <a:avLst/>
          </a:prstGeom>
          <a:noFill/>
          <a:ln/>
        </p:spPr>
        <p:txBody>
          <a:bodyPr wrap="none" lIns="0" tIns="0" rIns="0" bIns="0" rtlCol="0" anchor="t"/>
          <a:lstStyle/>
          <a:p>
            <a:pPr marL="0" indent="0" algn="l">
              <a:lnSpc>
                <a:spcPct val="130000"/>
              </a:lnSpc>
              <a:buNone/>
            </a:pPr>
            <a:r>
              <a:rPr lang="en-US" sz="1050" dirty="0">
                <a:solidFill>
                  <a:srgbClr val="55575A"/>
                </a:solidFill>
                <a:latin typeface="Manrope" pitchFamily="34" charset="0"/>
                <a:ea typeface="Manrope" pitchFamily="34" charset="-122"/>
                <a:cs typeface="Manrope" pitchFamily="34" charset="-120"/>
              </a:rPr>
              <a:t>Inventory Management &amp; Stock Availability Tracking</a:t>
            </a:r>
            <a:endParaRPr lang="en-US" sz="1050" dirty="0"/>
          </a:p>
        </p:txBody>
      </p:sp>
      <p:pic>
        <p:nvPicPr>
          <p:cNvPr id="11"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92266" y="2180444"/>
            <a:ext cx="202629" cy="202629"/>
          </a:xfrm>
          <a:prstGeom prst="rect">
            <a:avLst/>
          </a:prstGeom>
        </p:spPr>
      </p:pic>
      <p:sp>
        <p:nvSpPr>
          <p:cNvPr id="12" name="Text 7"/>
          <p:cNvSpPr/>
          <p:nvPr/>
        </p:nvSpPr>
        <p:spPr>
          <a:xfrm>
            <a:off x="5180633" y="2173784"/>
            <a:ext cx="3472011" cy="211113"/>
          </a:xfrm>
          <a:prstGeom prst="rect">
            <a:avLst/>
          </a:prstGeom>
          <a:noFill/>
          <a:ln/>
        </p:spPr>
        <p:txBody>
          <a:bodyPr wrap="none" lIns="0" tIns="0" rIns="0" bIns="0" rtlCol="0" anchor="t"/>
          <a:lstStyle/>
          <a:p>
            <a:pPr marL="0" indent="0" algn="l">
              <a:lnSpc>
                <a:spcPct val="130000"/>
              </a:lnSpc>
              <a:buNone/>
            </a:pPr>
            <a:r>
              <a:rPr lang="en-US" sz="1050" dirty="0">
                <a:solidFill>
                  <a:srgbClr val="55575A"/>
                </a:solidFill>
                <a:latin typeface="Manrope" pitchFamily="34" charset="0"/>
                <a:ea typeface="Manrope" pitchFamily="34" charset="-122"/>
                <a:cs typeface="Manrope" pitchFamily="34" charset="-120"/>
              </a:rPr>
              <a:t>Supplier Management &amp; Purchase Order Integration</a:t>
            </a:r>
            <a:endParaRPr lang="en-US" sz="1050" dirty="0"/>
          </a:p>
        </p:txBody>
      </p:sp>
      <p:pic>
        <p:nvPicPr>
          <p:cNvPr id="13"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92266" y="2850021"/>
            <a:ext cx="202629" cy="202629"/>
          </a:xfrm>
          <a:prstGeom prst="rect">
            <a:avLst/>
          </a:prstGeom>
        </p:spPr>
      </p:pic>
      <p:sp>
        <p:nvSpPr>
          <p:cNvPr id="14" name="Text 8"/>
          <p:cNvSpPr/>
          <p:nvPr/>
        </p:nvSpPr>
        <p:spPr>
          <a:xfrm>
            <a:off x="5180633" y="2843361"/>
            <a:ext cx="3472011" cy="211113"/>
          </a:xfrm>
          <a:prstGeom prst="rect">
            <a:avLst/>
          </a:prstGeom>
          <a:noFill/>
          <a:ln/>
        </p:spPr>
        <p:txBody>
          <a:bodyPr wrap="none" lIns="0" tIns="0" rIns="0" bIns="0" rtlCol="0" anchor="t"/>
          <a:lstStyle/>
          <a:p>
            <a:pPr marL="0" indent="0" algn="l">
              <a:lnSpc>
                <a:spcPct val="130000"/>
              </a:lnSpc>
              <a:buNone/>
            </a:pPr>
            <a:r>
              <a:rPr lang="en-US" sz="1050" dirty="0">
                <a:solidFill>
                  <a:srgbClr val="55575A"/>
                </a:solidFill>
                <a:latin typeface="Manrope" pitchFamily="34" charset="0"/>
                <a:ea typeface="Manrope" pitchFamily="34" charset="-122"/>
                <a:cs typeface="Manrope" pitchFamily="34" charset="-120"/>
              </a:rPr>
              <a:t>Barcode Integration &amp; Product Images</a:t>
            </a:r>
            <a:endParaRPr lang="en-US" sz="1050" dirty="0"/>
          </a:p>
        </p:txBody>
      </p:sp>
      <p:pic>
        <p:nvPicPr>
          <p:cNvPr id="15"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92266" y="3519599"/>
            <a:ext cx="202629" cy="202629"/>
          </a:xfrm>
          <a:prstGeom prst="rect">
            <a:avLst/>
          </a:prstGeom>
        </p:spPr>
      </p:pic>
      <p:sp>
        <p:nvSpPr>
          <p:cNvPr id="16" name="Text 9"/>
          <p:cNvSpPr/>
          <p:nvPr/>
        </p:nvSpPr>
        <p:spPr>
          <a:xfrm>
            <a:off x="5180633" y="3512939"/>
            <a:ext cx="3472011" cy="211113"/>
          </a:xfrm>
          <a:prstGeom prst="rect">
            <a:avLst/>
          </a:prstGeom>
          <a:noFill/>
          <a:ln/>
        </p:spPr>
        <p:txBody>
          <a:bodyPr wrap="none" lIns="0" tIns="0" rIns="0" bIns="0" rtlCol="0" anchor="t"/>
          <a:lstStyle/>
          <a:p>
            <a:pPr marL="0" indent="0" algn="l">
              <a:lnSpc>
                <a:spcPct val="130000"/>
              </a:lnSpc>
              <a:buNone/>
            </a:pPr>
            <a:r>
              <a:rPr lang="en-US" sz="1050" dirty="0">
                <a:solidFill>
                  <a:srgbClr val="55575A"/>
                </a:solidFill>
                <a:latin typeface="Manrope" pitchFamily="34" charset="0"/>
                <a:ea typeface="Manrope" pitchFamily="34" charset="-122"/>
                <a:cs typeface="Manrope" pitchFamily="34" charset="-120"/>
              </a:rPr>
              <a:t>Discount &amp; Offer Management</a:t>
            </a:r>
            <a:endParaRPr lang="en-US" sz="1050" dirty="0"/>
          </a:p>
        </p:txBody>
      </p:sp>
      <p:pic>
        <p:nvPicPr>
          <p:cNvPr id="17" name="Image 5"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92266" y="4189177"/>
            <a:ext cx="202629" cy="202629"/>
          </a:xfrm>
          <a:prstGeom prst="rect">
            <a:avLst/>
          </a:prstGeom>
        </p:spPr>
      </p:pic>
      <p:sp>
        <p:nvSpPr>
          <p:cNvPr id="18" name="Text 10"/>
          <p:cNvSpPr/>
          <p:nvPr/>
        </p:nvSpPr>
        <p:spPr>
          <a:xfrm>
            <a:off x="5180633" y="4182517"/>
            <a:ext cx="3472011" cy="211113"/>
          </a:xfrm>
          <a:prstGeom prst="rect">
            <a:avLst/>
          </a:prstGeom>
          <a:noFill/>
          <a:ln/>
        </p:spPr>
        <p:txBody>
          <a:bodyPr wrap="none" lIns="0" tIns="0" rIns="0" bIns="0" rtlCol="0" anchor="t"/>
          <a:lstStyle/>
          <a:p>
            <a:pPr marL="0" indent="0" algn="l">
              <a:lnSpc>
                <a:spcPct val="130000"/>
              </a:lnSpc>
              <a:buNone/>
            </a:pPr>
            <a:r>
              <a:rPr lang="en-US" sz="1050" dirty="0">
                <a:solidFill>
                  <a:srgbClr val="55575A"/>
                </a:solidFill>
                <a:latin typeface="Manrope" pitchFamily="34" charset="0"/>
                <a:ea typeface="Manrope" pitchFamily="34" charset="-122"/>
                <a:cs typeface="Manrope" pitchFamily="34" charset="-120"/>
              </a:rPr>
              <a:t>Role-Based Authorization &amp; Analytics Dashboard</a:t>
            </a:r>
            <a:endParaRPr lang="en-US" sz="1050" dirty="0"/>
          </a:p>
        </p:txBody>
      </p:sp>
      <mc:AlternateContent xmlns:mc="http://schemas.openxmlformats.org/markup-compatibility/2006">
        <mc:Choice xmlns:p14="http://schemas.microsoft.com/office/powerpoint/2010/main" Requires="p14">
          <p:contentPart p14:bwMode="auto" r:id="rId5">
            <p14:nvContentPartPr>
              <p14:cNvPr id="26" name="Ink 25">
                <a:extLst>
                  <a:ext uri="{FF2B5EF4-FFF2-40B4-BE49-F238E27FC236}">
                    <a16:creationId xmlns:a16="http://schemas.microsoft.com/office/drawing/2014/main" id="{57874E72-95DD-34BE-A4ED-1E13659338C4}"/>
                  </a:ext>
                </a:extLst>
              </p14:cNvPr>
              <p14:cNvContentPartPr/>
              <p14:nvPr/>
            </p14:nvContentPartPr>
            <p14:xfrm>
              <a:off x="8018886" y="4904806"/>
              <a:ext cx="1011240" cy="128520"/>
            </p14:xfrm>
          </p:contentPart>
        </mc:Choice>
        <mc:Fallback>
          <p:pic>
            <p:nvPicPr>
              <p:cNvPr id="26" name="Ink 25">
                <a:extLst>
                  <a:ext uri="{FF2B5EF4-FFF2-40B4-BE49-F238E27FC236}">
                    <a16:creationId xmlns:a16="http://schemas.microsoft.com/office/drawing/2014/main" id="{57874E72-95DD-34BE-A4ED-1E13659338C4}"/>
                  </a:ext>
                </a:extLst>
              </p:cNvPr>
              <p:cNvPicPr/>
              <p:nvPr/>
            </p:nvPicPr>
            <p:blipFill>
              <a:blip r:embed="rId6"/>
              <a:stretch>
                <a:fillRect/>
              </a:stretch>
            </p:blipFill>
            <p:spPr>
              <a:xfrm>
                <a:off x="7955886" y="4842166"/>
                <a:ext cx="1136880" cy="254160"/>
              </a:xfrm>
              <a:prstGeom prst="rect">
                <a:avLst/>
              </a:prstGeom>
            </p:spPr>
          </p:pic>
        </mc:Fallback>
      </mc:AlternateContent>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TotalTime>
  <Words>893</Words>
  <Application>Microsoft Macintosh PowerPoint</Application>
  <PresentationFormat>On-screen Show (16:9)</PresentationFormat>
  <Paragraphs>143</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Manrope</vt:lpstr>
      <vt:lpstr>Inter Light</vt:lpstr>
      <vt:lpstr>Manrope Bold</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Vikas, Vikas (Stud SRH-University)</cp:lastModifiedBy>
  <cp:revision>2</cp:revision>
  <dcterms:created xsi:type="dcterms:W3CDTF">2026-07-21T22:31:27Z</dcterms:created>
  <dcterms:modified xsi:type="dcterms:W3CDTF">2026-07-21T22:53:34Z</dcterms:modified>
</cp:coreProperties>
</file>